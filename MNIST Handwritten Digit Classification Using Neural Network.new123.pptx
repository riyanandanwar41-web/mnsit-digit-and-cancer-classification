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8CE46-9BFA-F508-90E9-7222DF23A3C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1FD3201-136C-0804-8356-7F65BE72DF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F26353A-A22F-EA2E-F7DE-B5C642AA3D60}"/>
              </a:ext>
            </a:extLst>
          </p:cNvPr>
          <p:cNvSpPr>
            <a:spLocks noGrp="1"/>
          </p:cNvSpPr>
          <p:nvPr>
            <p:ph type="dt" sz="half" idx="10"/>
          </p:nvPr>
        </p:nvSpPr>
        <p:spPr/>
        <p:txBody>
          <a:bodyPr/>
          <a:lstStyle/>
          <a:p>
            <a:fld id="{87C1FC5F-1A2A-4DA2-B395-3B0639C4B81C}" type="datetimeFigureOut">
              <a:rPr lang="en-IN" smtClean="0"/>
              <a:t>29-10-2026</a:t>
            </a:fld>
            <a:endParaRPr lang="en-IN"/>
          </a:p>
        </p:txBody>
      </p:sp>
      <p:sp>
        <p:nvSpPr>
          <p:cNvPr id="5" name="Footer Placeholder 4">
            <a:extLst>
              <a:ext uri="{FF2B5EF4-FFF2-40B4-BE49-F238E27FC236}">
                <a16:creationId xmlns:a16="http://schemas.microsoft.com/office/drawing/2014/main" id="{509C6C15-A8D3-8A99-8F90-02FA22DC2C6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C09F56F-4089-99D6-E1EC-58AF12CD1111}"/>
              </a:ext>
            </a:extLst>
          </p:cNvPr>
          <p:cNvSpPr>
            <a:spLocks noGrp="1"/>
          </p:cNvSpPr>
          <p:nvPr>
            <p:ph type="sldNum" sz="quarter" idx="12"/>
          </p:nvPr>
        </p:nvSpPr>
        <p:spPr/>
        <p:txBody>
          <a:bodyPr/>
          <a:lstStyle/>
          <a:p>
            <a:fld id="{67842A8D-C071-4D86-BCE8-C3F3D71791CF}" type="slidenum">
              <a:rPr lang="en-IN" smtClean="0"/>
              <a:t>‹#›</a:t>
            </a:fld>
            <a:endParaRPr lang="en-IN"/>
          </a:p>
        </p:txBody>
      </p:sp>
    </p:spTree>
    <p:extLst>
      <p:ext uri="{BB962C8B-B14F-4D97-AF65-F5344CB8AC3E}">
        <p14:creationId xmlns:p14="http://schemas.microsoft.com/office/powerpoint/2010/main" val="25176439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056D6-2233-26E4-473A-01947E236EB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8060355-6A9E-152B-C90B-607E1A3A0E6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2253FDA-2478-E7F8-4039-E1148076C9B0}"/>
              </a:ext>
            </a:extLst>
          </p:cNvPr>
          <p:cNvSpPr>
            <a:spLocks noGrp="1"/>
          </p:cNvSpPr>
          <p:nvPr>
            <p:ph type="dt" sz="half" idx="10"/>
          </p:nvPr>
        </p:nvSpPr>
        <p:spPr/>
        <p:txBody>
          <a:bodyPr/>
          <a:lstStyle/>
          <a:p>
            <a:fld id="{87C1FC5F-1A2A-4DA2-B395-3B0639C4B81C}" type="datetimeFigureOut">
              <a:rPr lang="en-IN" smtClean="0"/>
              <a:t>29-10-2026</a:t>
            </a:fld>
            <a:endParaRPr lang="en-IN"/>
          </a:p>
        </p:txBody>
      </p:sp>
      <p:sp>
        <p:nvSpPr>
          <p:cNvPr id="5" name="Footer Placeholder 4">
            <a:extLst>
              <a:ext uri="{FF2B5EF4-FFF2-40B4-BE49-F238E27FC236}">
                <a16:creationId xmlns:a16="http://schemas.microsoft.com/office/drawing/2014/main" id="{0E9EB42A-0345-DF0A-3F6D-61E9F461346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D539AC0-A580-A1F7-0767-8115EDBAED28}"/>
              </a:ext>
            </a:extLst>
          </p:cNvPr>
          <p:cNvSpPr>
            <a:spLocks noGrp="1"/>
          </p:cNvSpPr>
          <p:nvPr>
            <p:ph type="sldNum" sz="quarter" idx="12"/>
          </p:nvPr>
        </p:nvSpPr>
        <p:spPr/>
        <p:txBody>
          <a:bodyPr/>
          <a:lstStyle/>
          <a:p>
            <a:fld id="{67842A8D-C071-4D86-BCE8-C3F3D71791CF}" type="slidenum">
              <a:rPr lang="en-IN" smtClean="0"/>
              <a:t>‹#›</a:t>
            </a:fld>
            <a:endParaRPr lang="en-IN"/>
          </a:p>
        </p:txBody>
      </p:sp>
    </p:spTree>
    <p:extLst>
      <p:ext uri="{BB962C8B-B14F-4D97-AF65-F5344CB8AC3E}">
        <p14:creationId xmlns:p14="http://schemas.microsoft.com/office/powerpoint/2010/main" val="6689228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A184F-387B-CF78-C397-52E697BB15E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30E8424-7E81-1A25-7B64-C40C24C9AAF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FA93C56-6967-F155-D5AF-122910BFB662}"/>
              </a:ext>
            </a:extLst>
          </p:cNvPr>
          <p:cNvSpPr>
            <a:spLocks noGrp="1"/>
          </p:cNvSpPr>
          <p:nvPr>
            <p:ph type="dt" sz="half" idx="10"/>
          </p:nvPr>
        </p:nvSpPr>
        <p:spPr/>
        <p:txBody>
          <a:bodyPr/>
          <a:lstStyle/>
          <a:p>
            <a:fld id="{87C1FC5F-1A2A-4DA2-B395-3B0639C4B81C}" type="datetimeFigureOut">
              <a:rPr lang="en-IN" smtClean="0"/>
              <a:t>29-10-2026</a:t>
            </a:fld>
            <a:endParaRPr lang="en-IN"/>
          </a:p>
        </p:txBody>
      </p:sp>
      <p:sp>
        <p:nvSpPr>
          <p:cNvPr id="5" name="Footer Placeholder 4">
            <a:extLst>
              <a:ext uri="{FF2B5EF4-FFF2-40B4-BE49-F238E27FC236}">
                <a16:creationId xmlns:a16="http://schemas.microsoft.com/office/drawing/2014/main" id="{FB616903-5E9F-B01D-D564-457EE051B29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9C2ADFF-014F-7E15-519A-DAA0AADF1903}"/>
              </a:ext>
            </a:extLst>
          </p:cNvPr>
          <p:cNvSpPr>
            <a:spLocks noGrp="1"/>
          </p:cNvSpPr>
          <p:nvPr>
            <p:ph type="sldNum" sz="quarter" idx="12"/>
          </p:nvPr>
        </p:nvSpPr>
        <p:spPr/>
        <p:txBody>
          <a:bodyPr/>
          <a:lstStyle/>
          <a:p>
            <a:fld id="{67842A8D-C071-4D86-BCE8-C3F3D71791CF}" type="slidenum">
              <a:rPr lang="en-IN" smtClean="0"/>
              <a:t>‹#›</a:t>
            </a:fld>
            <a:endParaRPr lang="en-IN"/>
          </a:p>
        </p:txBody>
      </p:sp>
    </p:spTree>
    <p:extLst>
      <p:ext uri="{BB962C8B-B14F-4D97-AF65-F5344CB8AC3E}">
        <p14:creationId xmlns:p14="http://schemas.microsoft.com/office/powerpoint/2010/main" val="31983064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D15FC-F74D-E0D9-EFCB-B3C4ECEEE0F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55F3CA4-7F0B-2F49-D09A-3EA24D9C601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3D860A0-5E78-6FC8-8DB7-98CE0212BF4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8AFC848-50F8-5E02-A815-E4CECD14475D}"/>
              </a:ext>
            </a:extLst>
          </p:cNvPr>
          <p:cNvSpPr>
            <a:spLocks noGrp="1"/>
          </p:cNvSpPr>
          <p:nvPr>
            <p:ph type="dt" sz="half" idx="10"/>
          </p:nvPr>
        </p:nvSpPr>
        <p:spPr/>
        <p:txBody>
          <a:bodyPr/>
          <a:lstStyle/>
          <a:p>
            <a:fld id="{87C1FC5F-1A2A-4DA2-B395-3B0639C4B81C}" type="datetimeFigureOut">
              <a:rPr lang="en-IN" smtClean="0"/>
              <a:t>29-10-2026</a:t>
            </a:fld>
            <a:endParaRPr lang="en-IN"/>
          </a:p>
        </p:txBody>
      </p:sp>
      <p:sp>
        <p:nvSpPr>
          <p:cNvPr id="6" name="Footer Placeholder 5">
            <a:extLst>
              <a:ext uri="{FF2B5EF4-FFF2-40B4-BE49-F238E27FC236}">
                <a16:creationId xmlns:a16="http://schemas.microsoft.com/office/drawing/2014/main" id="{DA005AFD-3B13-3B10-52D4-86A0D45BA15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6DE1130-012F-F792-E288-597A24CC3D7B}"/>
              </a:ext>
            </a:extLst>
          </p:cNvPr>
          <p:cNvSpPr>
            <a:spLocks noGrp="1"/>
          </p:cNvSpPr>
          <p:nvPr>
            <p:ph type="sldNum" sz="quarter" idx="12"/>
          </p:nvPr>
        </p:nvSpPr>
        <p:spPr/>
        <p:txBody>
          <a:bodyPr/>
          <a:lstStyle/>
          <a:p>
            <a:fld id="{67842A8D-C071-4D86-BCE8-C3F3D71791CF}" type="slidenum">
              <a:rPr lang="en-IN" smtClean="0"/>
              <a:t>‹#›</a:t>
            </a:fld>
            <a:endParaRPr lang="en-IN"/>
          </a:p>
        </p:txBody>
      </p:sp>
    </p:spTree>
    <p:extLst>
      <p:ext uri="{BB962C8B-B14F-4D97-AF65-F5344CB8AC3E}">
        <p14:creationId xmlns:p14="http://schemas.microsoft.com/office/powerpoint/2010/main" val="40215149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F1650-D079-7C15-8BFA-44862F59F16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693C81D-13CB-0614-1DCB-14EB82EE01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A05424A-B2E7-8E3E-A939-CE7CDBBB679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FFE4430-553A-69BD-9564-4A3392603C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78E59F1-F219-5CD4-1D0C-9AC42FFF1A9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C2BAD8B-E5AE-A2F1-D895-3102BDDE949A}"/>
              </a:ext>
            </a:extLst>
          </p:cNvPr>
          <p:cNvSpPr>
            <a:spLocks noGrp="1"/>
          </p:cNvSpPr>
          <p:nvPr>
            <p:ph type="dt" sz="half" idx="10"/>
          </p:nvPr>
        </p:nvSpPr>
        <p:spPr/>
        <p:txBody>
          <a:bodyPr/>
          <a:lstStyle/>
          <a:p>
            <a:fld id="{87C1FC5F-1A2A-4DA2-B395-3B0639C4B81C}" type="datetimeFigureOut">
              <a:rPr lang="en-IN" smtClean="0"/>
              <a:t>29-10-2026</a:t>
            </a:fld>
            <a:endParaRPr lang="en-IN"/>
          </a:p>
        </p:txBody>
      </p:sp>
      <p:sp>
        <p:nvSpPr>
          <p:cNvPr id="8" name="Footer Placeholder 7">
            <a:extLst>
              <a:ext uri="{FF2B5EF4-FFF2-40B4-BE49-F238E27FC236}">
                <a16:creationId xmlns:a16="http://schemas.microsoft.com/office/drawing/2014/main" id="{F05C922C-F487-CB86-01B3-FD3C91CFF3D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7523E70-9ED2-23A7-97B2-4C07DA44B740}"/>
              </a:ext>
            </a:extLst>
          </p:cNvPr>
          <p:cNvSpPr>
            <a:spLocks noGrp="1"/>
          </p:cNvSpPr>
          <p:nvPr>
            <p:ph type="sldNum" sz="quarter" idx="12"/>
          </p:nvPr>
        </p:nvSpPr>
        <p:spPr/>
        <p:txBody>
          <a:bodyPr/>
          <a:lstStyle/>
          <a:p>
            <a:fld id="{67842A8D-C071-4D86-BCE8-C3F3D71791CF}" type="slidenum">
              <a:rPr lang="en-IN" smtClean="0"/>
              <a:t>‹#›</a:t>
            </a:fld>
            <a:endParaRPr lang="en-IN"/>
          </a:p>
        </p:txBody>
      </p:sp>
    </p:spTree>
    <p:extLst>
      <p:ext uri="{BB962C8B-B14F-4D97-AF65-F5344CB8AC3E}">
        <p14:creationId xmlns:p14="http://schemas.microsoft.com/office/powerpoint/2010/main" val="35082224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A36CE-F521-C735-2FEC-FF58FB6E643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9905F38-1D90-8159-539D-2EC73329B905}"/>
              </a:ext>
            </a:extLst>
          </p:cNvPr>
          <p:cNvSpPr>
            <a:spLocks noGrp="1"/>
          </p:cNvSpPr>
          <p:nvPr>
            <p:ph type="dt" sz="half" idx="10"/>
          </p:nvPr>
        </p:nvSpPr>
        <p:spPr/>
        <p:txBody>
          <a:bodyPr/>
          <a:lstStyle/>
          <a:p>
            <a:fld id="{87C1FC5F-1A2A-4DA2-B395-3B0639C4B81C}" type="datetimeFigureOut">
              <a:rPr lang="en-IN" smtClean="0"/>
              <a:t>29-10-2026</a:t>
            </a:fld>
            <a:endParaRPr lang="en-IN"/>
          </a:p>
        </p:txBody>
      </p:sp>
      <p:sp>
        <p:nvSpPr>
          <p:cNvPr id="4" name="Footer Placeholder 3">
            <a:extLst>
              <a:ext uri="{FF2B5EF4-FFF2-40B4-BE49-F238E27FC236}">
                <a16:creationId xmlns:a16="http://schemas.microsoft.com/office/drawing/2014/main" id="{35978C37-7B98-042F-A7AF-762FDAA1873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DA979A7-4DE6-0497-52A3-1B619A754E33}"/>
              </a:ext>
            </a:extLst>
          </p:cNvPr>
          <p:cNvSpPr>
            <a:spLocks noGrp="1"/>
          </p:cNvSpPr>
          <p:nvPr>
            <p:ph type="sldNum" sz="quarter" idx="12"/>
          </p:nvPr>
        </p:nvSpPr>
        <p:spPr/>
        <p:txBody>
          <a:bodyPr/>
          <a:lstStyle/>
          <a:p>
            <a:fld id="{67842A8D-C071-4D86-BCE8-C3F3D71791CF}" type="slidenum">
              <a:rPr lang="en-IN" smtClean="0"/>
              <a:t>‹#›</a:t>
            </a:fld>
            <a:endParaRPr lang="en-IN"/>
          </a:p>
        </p:txBody>
      </p:sp>
    </p:spTree>
    <p:extLst>
      <p:ext uri="{BB962C8B-B14F-4D97-AF65-F5344CB8AC3E}">
        <p14:creationId xmlns:p14="http://schemas.microsoft.com/office/powerpoint/2010/main" val="9917176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53E3207-6056-C92A-A9BB-BEF667EB7552}"/>
              </a:ext>
            </a:extLst>
          </p:cNvPr>
          <p:cNvSpPr>
            <a:spLocks noGrp="1"/>
          </p:cNvSpPr>
          <p:nvPr>
            <p:ph type="dt" sz="half" idx="10"/>
          </p:nvPr>
        </p:nvSpPr>
        <p:spPr/>
        <p:txBody>
          <a:bodyPr/>
          <a:lstStyle/>
          <a:p>
            <a:fld id="{87C1FC5F-1A2A-4DA2-B395-3B0639C4B81C}" type="datetimeFigureOut">
              <a:rPr lang="en-IN" smtClean="0"/>
              <a:t>29-10-2026</a:t>
            </a:fld>
            <a:endParaRPr lang="en-IN"/>
          </a:p>
        </p:txBody>
      </p:sp>
      <p:sp>
        <p:nvSpPr>
          <p:cNvPr id="3" name="Footer Placeholder 2">
            <a:extLst>
              <a:ext uri="{FF2B5EF4-FFF2-40B4-BE49-F238E27FC236}">
                <a16:creationId xmlns:a16="http://schemas.microsoft.com/office/drawing/2014/main" id="{E71309ED-0719-6018-B7E6-1A52FF9D729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5C53420-6C0C-FA4E-6A1C-8B08E8E7269F}"/>
              </a:ext>
            </a:extLst>
          </p:cNvPr>
          <p:cNvSpPr>
            <a:spLocks noGrp="1"/>
          </p:cNvSpPr>
          <p:nvPr>
            <p:ph type="sldNum" sz="quarter" idx="12"/>
          </p:nvPr>
        </p:nvSpPr>
        <p:spPr/>
        <p:txBody>
          <a:bodyPr/>
          <a:lstStyle/>
          <a:p>
            <a:fld id="{67842A8D-C071-4D86-BCE8-C3F3D71791CF}" type="slidenum">
              <a:rPr lang="en-IN" smtClean="0"/>
              <a:t>‹#›</a:t>
            </a:fld>
            <a:endParaRPr lang="en-IN"/>
          </a:p>
        </p:txBody>
      </p:sp>
    </p:spTree>
    <p:extLst>
      <p:ext uri="{BB962C8B-B14F-4D97-AF65-F5344CB8AC3E}">
        <p14:creationId xmlns:p14="http://schemas.microsoft.com/office/powerpoint/2010/main" val="39500071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78B54-19AA-2FAC-7F5D-9198B8CC02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09D8A1E-26B4-9220-210C-D767BBD194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D06D41F-BE55-DCB0-3EBE-8D97FCBE70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B07B19B-0585-A713-B127-73A1C4773341}"/>
              </a:ext>
            </a:extLst>
          </p:cNvPr>
          <p:cNvSpPr>
            <a:spLocks noGrp="1"/>
          </p:cNvSpPr>
          <p:nvPr>
            <p:ph type="dt" sz="half" idx="10"/>
          </p:nvPr>
        </p:nvSpPr>
        <p:spPr/>
        <p:txBody>
          <a:bodyPr/>
          <a:lstStyle/>
          <a:p>
            <a:fld id="{87C1FC5F-1A2A-4DA2-B395-3B0639C4B81C}" type="datetimeFigureOut">
              <a:rPr lang="en-IN" smtClean="0"/>
              <a:t>29-10-2026</a:t>
            </a:fld>
            <a:endParaRPr lang="en-IN"/>
          </a:p>
        </p:txBody>
      </p:sp>
      <p:sp>
        <p:nvSpPr>
          <p:cNvPr id="6" name="Footer Placeholder 5">
            <a:extLst>
              <a:ext uri="{FF2B5EF4-FFF2-40B4-BE49-F238E27FC236}">
                <a16:creationId xmlns:a16="http://schemas.microsoft.com/office/drawing/2014/main" id="{49113BF3-A780-91E9-6F38-4B6935F0870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3A345D8-E497-B4DA-B018-7251B34B8EC0}"/>
              </a:ext>
            </a:extLst>
          </p:cNvPr>
          <p:cNvSpPr>
            <a:spLocks noGrp="1"/>
          </p:cNvSpPr>
          <p:nvPr>
            <p:ph type="sldNum" sz="quarter" idx="12"/>
          </p:nvPr>
        </p:nvSpPr>
        <p:spPr/>
        <p:txBody>
          <a:bodyPr/>
          <a:lstStyle/>
          <a:p>
            <a:fld id="{67842A8D-C071-4D86-BCE8-C3F3D71791CF}" type="slidenum">
              <a:rPr lang="en-IN" smtClean="0"/>
              <a:t>‹#›</a:t>
            </a:fld>
            <a:endParaRPr lang="en-IN"/>
          </a:p>
        </p:txBody>
      </p:sp>
    </p:spTree>
    <p:extLst>
      <p:ext uri="{BB962C8B-B14F-4D97-AF65-F5344CB8AC3E}">
        <p14:creationId xmlns:p14="http://schemas.microsoft.com/office/powerpoint/2010/main" val="40219839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9A4E0-C424-9770-D59A-083E4C3348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02B0FE3-6558-37B5-0823-6E1DDB279B1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24D9B84-CB20-9906-155A-1023074CE3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D7E66E-56A8-4775-13E7-E9A899D773D5}"/>
              </a:ext>
            </a:extLst>
          </p:cNvPr>
          <p:cNvSpPr>
            <a:spLocks noGrp="1"/>
          </p:cNvSpPr>
          <p:nvPr>
            <p:ph type="dt" sz="half" idx="10"/>
          </p:nvPr>
        </p:nvSpPr>
        <p:spPr/>
        <p:txBody>
          <a:bodyPr/>
          <a:lstStyle/>
          <a:p>
            <a:fld id="{87C1FC5F-1A2A-4DA2-B395-3B0639C4B81C}" type="datetimeFigureOut">
              <a:rPr lang="en-IN" smtClean="0"/>
              <a:t>29-10-2026</a:t>
            </a:fld>
            <a:endParaRPr lang="en-IN"/>
          </a:p>
        </p:txBody>
      </p:sp>
      <p:sp>
        <p:nvSpPr>
          <p:cNvPr id="6" name="Footer Placeholder 5">
            <a:extLst>
              <a:ext uri="{FF2B5EF4-FFF2-40B4-BE49-F238E27FC236}">
                <a16:creationId xmlns:a16="http://schemas.microsoft.com/office/drawing/2014/main" id="{A5B28FA4-669F-6BEC-47AA-C418503769F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FD4B438-6DFB-8D31-01A6-8B30770A8838}"/>
              </a:ext>
            </a:extLst>
          </p:cNvPr>
          <p:cNvSpPr>
            <a:spLocks noGrp="1"/>
          </p:cNvSpPr>
          <p:nvPr>
            <p:ph type="sldNum" sz="quarter" idx="12"/>
          </p:nvPr>
        </p:nvSpPr>
        <p:spPr/>
        <p:txBody>
          <a:bodyPr/>
          <a:lstStyle/>
          <a:p>
            <a:fld id="{67842A8D-C071-4D86-BCE8-C3F3D71791CF}" type="slidenum">
              <a:rPr lang="en-IN" smtClean="0"/>
              <a:t>‹#›</a:t>
            </a:fld>
            <a:endParaRPr lang="en-IN"/>
          </a:p>
        </p:txBody>
      </p:sp>
    </p:spTree>
    <p:extLst>
      <p:ext uri="{BB962C8B-B14F-4D97-AF65-F5344CB8AC3E}">
        <p14:creationId xmlns:p14="http://schemas.microsoft.com/office/powerpoint/2010/main" val="34697811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7FE2B-1C52-C8F6-A75E-05060FF3AD3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819CB32-B1BB-8D02-48CB-B7685686289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53A62D6-1ED2-640C-3FD3-746FAF09B35E}"/>
              </a:ext>
            </a:extLst>
          </p:cNvPr>
          <p:cNvSpPr>
            <a:spLocks noGrp="1"/>
          </p:cNvSpPr>
          <p:nvPr>
            <p:ph type="dt" sz="half" idx="10"/>
          </p:nvPr>
        </p:nvSpPr>
        <p:spPr/>
        <p:txBody>
          <a:bodyPr/>
          <a:lstStyle/>
          <a:p>
            <a:fld id="{87C1FC5F-1A2A-4DA2-B395-3B0639C4B81C}" type="datetimeFigureOut">
              <a:rPr lang="en-IN" smtClean="0"/>
              <a:t>29-10-2026</a:t>
            </a:fld>
            <a:endParaRPr lang="en-IN"/>
          </a:p>
        </p:txBody>
      </p:sp>
      <p:sp>
        <p:nvSpPr>
          <p:cNvPr id="5" name="Footer Placeholder 4">
            <a:extLst>
              <a:ext uri="{FF2B5EF4-FFF2-40B4-BE49-F238E27FC236}">
                <a16:creationId xmlns:a16="http://schemas.microsoft.com/office/drawing/2014/main" id="{1DD2A8C7-A2C1-AD37-E910-51E0AADAE3E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6D7EA1F-FEEB-6FDA-09F4-E985065FF92E}"/>
              </a:ext>
            </a:extLst>
          </p:cNvPr>
          <p:cNvSpPr>
            <a:spLocks noGrp="1"/>
          </p:cNvSpPr>
          <p:nvPr>
            <p:ph type="sldNum" sz="quarter" idx="12"/>
          </p:nvPr>
        </p:nvSpPr>
        <p:spPr/>
        <p:txBody>
          <a:bodyPr/>
          <a:lstStyle/>
          <a:p>
            <a:fld id="{67842A8D-C071-4D86-BCE8-C3F3D71791CF}" type="slidenum">
              <a:rPr lang="en-IN" smtClean="0"/>
              <a:t>‹#›</a:t>
            </a:fld>
            <a:endParaRPr lang="en-IN"/>
          </a:p>
        </p:txBody>
      </p:sp>
    </p:spTree>
    <p:extLst>
      <p:ext uri="{BB962C8B-B14F-4D97-AF65-F5344CB8AC3E}">
        <p14:creationId xmlns:p14="http://schemas.microsoft.com/office/powerpoint/2010/main" val="10755256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F0F7D30-CE28-13BD-086E-E0140E5FE0E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8602DB0-D081-6BBA-E95E-F64D0E3497B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5A7F253-1C0A-5F25-657E-041BD604E584}"/>
              </a:ext>
            </a:extLst>
          </p:cNvPr>
          <p:cNvSpPr>
            <a:spLocks noGrp="1"/>
          </p:cNvSpPr>
          <p:nvPr>
            <p:ph type="dt" sz="half" idx="10"/>
          </p:nvPr>
        </p:nvSpPr>
        <p:spPr/>
        <p:txBody>
          <a:bodyPr/>
          <a:lstStyle/>
          <a:p>
            <a:fld id="{87C1FC5F-1A2A-4DA2-B395-3B0639C4B81C}" type="datetimeFigureOut">
              <a:rPr lang="en-IN" smtClean="0"/>
              <a:t>29-10-2026</a:t>
            </a:fld>
            <a:endParaRPr lang="en-IN"/>
          </a:p>
        </p:txBody>
      </p:sp>
      <p:sp>
        <p:nvSpPr>
          <p:cNvPr id="5" name="Footer Placeholder 4">
            <a:extLst>
              <a:ext uri="{FF2B5EF4-FFF2-40B4-BE49-F238E27FC236}">
                <a16:creationId xmlns:a16="http://schemas.microsoft.com/office/drawing/2014/main" id="{B1572C36-C3E9-3950-989D-381D6E3EE2E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BD03BF-A259-065D-5A97-C99F0AFD766C}"/>
              </a:ext>
            </a:extLst>
          </p:cNvPr>
          <p:cNvSpPr>
            <a:spLocks noGrp="1"/>
          </p:cNvSpPr>
          <p:nvPr>
            <p:ph type="sldNum" sz="quarter" idx="12"/>
          </p:nvPr>
        </p:nvSpPr>
        <p:spPr/>
        <p:txBody>
          <a:bodyPr/>
          <a:lstStyle/>
          <a:p>
            <a:fld id="{67842A8D-C071-4D86-BCE8-C3F3D71791CF}" type="slidenum">
              <a:rPr lang="en-IN" smtClean="0"/>
              <a:t>‹#›</a:t>
            </a:fld>
            <a:endParaRPr lang="en-IN"/>
          </a:p>
        </p:txBody>
      </p:sp>
    </p:spTree>
    <p:extLst>
      <p:ext uri="{BB962C8B-B14F-4D97-AF65-F5344CB8AC3E}">
        <p14:creationId xmlns:p14="http://schemas.microsoft.com/office/powerpoint/2010/main" val="4179409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5E4BBE-2E59-B7F4-89F7-6C9513F7EE5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A2315BF-0312-EAB2-ACBA-60498BFAF95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01C6B15-0299-C24C-E458-72656DFF56B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C1FC5F-1A2A-4DA2-B395-3B0639C4B81C}" type="datetimeFigureOut">
              <a:rPr lang="en-IN" smtClean="0"/>
              <a:t>29-10-2026</a:t>
            </a:fld>
            <a:endParaRPr lang="en-IN"/>
          </a:p>
        </p:txBody>
      </p:sp>
      <p:sp>
        <p:nvSpPr>
          <p:cNvPr id="5" name="Footer Placeholder 4">
            <a:extLst>
              <a:ext uri="{FF2B5EF4-FFF2-40B4-BE49-F238E27FC236}">
                <a16:creationId xmlns:a16="http://schemas.microsoft.com/office/drawing/2014/main" id="{8A564B69-D61A-D59A-4FE1-04EE7BEFA5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A5FFCC8-C710-5297-C28E-6C87B2B1257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842A8D-C071-4D86-BCE8-C3F3D71791CF}" type="slidenum">
              <a:rPr lang="en-IN" smtClean="0"/>
              <a:t>‹#›</a:t>
            </a:fld>
            <a:endParaRPr lang="en-IN"/>
          </a:p>
        </p:txBody>
      </p:sp>
    </p:spTree>
    <p:extLst>
      <p:ext uri="{BB962C8B-B14F-4D97-AF65-F5344CB8AC3E}">
        <p14:creationId xmlns:p14="http://schemas.microsoft.com/office/powerpoint/2010/main" val="16133678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hyperlink" Target="#_bookmark26"/><Relationship Id="rId3" Type="http://schemas.openxmlformats.org/officeDocument/2006/relationships/hyperlink" Target="#_bookmark19"/><Relationship Id="rId7" Type="http://schemas.openxmlformats.org/officeDocument/2006/relationships/hyperlink" Target="#_bookmark25"/><Relationship Id="rId2" Type="http://schemas.openxmlformats.org/officeDocument/2006/relationships/hyperlink" Target="#_bookmark16"/><Relationship Id="rId1" Type="http://schemas.openxmlformats.org/officeDocument/2006/relationships/slideLayout" Target="../slideLayouts/slideLayout2.xml"/><Relationship Id="rId6" Type="http://schemas.openxmlformats.org/officeDocument/2006/relationships/hyperlink" Target="#_bookmark23"/><Relationship Id="rId5" Type="http://schemas.openxmlformats.org/officeDocument/2006/relationships/hyperlink" Target="#_bookmark22"/><Relationship Id="rId4" Type="http://schemas.openxmlformats.org/officeDocument/2006/relationships/hyperlink" Target="#_bookmark21"/><Relationship Id="rId9" Type="http://schemas.openxmlformats.org/officeDocument/2006/relationships/hyperlink" Target="#_bookmark27"/></Relationships>
</file>

<file path=ppt/slides/_rels/slide6.xml.rels><?xml version="1.0" encoding="UTF-8" standalone="yes"?>
<Relationships xmlns="http://schemas.openxmlformats.org/package/2006/relationships"><Relationship Id="rId3" Type="http://schemas.openxmlformats.org/officeDocument/2006/relationships/hyperlink" Target="#_bookmark28"/><Relationship Id="rId2" Type="http://schemas.openxmlformats.org/officeDocument/2006/relationships/hyperlink" Target="#_bookmark16"/><Relationship Id="rId1" Type="http://schemas.openxmlformats.org/officeDocument/2006/relationships/slideLayout" Target="../slideLayouts/slideLayout7.xml"/><Relationship Id="rId5" Type="http://schemas.openxmlformats.org/officeDocument/2006/relationships/hyperlink" Target="#_bookmark24"/><Relationship Id="rId4" Type="http://schemas.openxmlformats.org/officeDocument/2006/relationships/hyperlink" Target="#_bookmark29"/></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_bookmark6"/><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_bookmark7"/><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F5F58-4B8D-AC66-1476-1B392906D8FF}"/>
              </a:ext>
            </a:extLst>
          </p:cNvPr>
          <p:cNvSpPr>
            <a:spLocks noGrp="1"/>
          </p:cNvSpPr>
          <p:nvPr>
            <p:ph type="ctrTitle"/>
          </p:nvPr>
        </p:nvSpPr>
        <p:spPr/>
        <p:txBody>
          <a:bodyPr>
            <a:noAutofit/>
          </a:bodyPr>
          <a:lstStyle/>
          <a:p>
            <a:r>
              <a:rPr lang="en-IN" sz="4400" b="1" dirty="0"/>
              <a:t>MNIST Handwritten Digit Classification Using Neural Network</a:t>
            </a:r>
            <a:br>
              <a:rPr lang="en-IN" sz="4400" dirty="0"/>
            </a:br>
            <a:r>
              <a:rPr lang="en-IN" sz="4400" b="1" dirty="0"/>
              <a:t>Abstract</a:t>
            </a:r>
            <a:br>
              <a:rPr lang="en-IN" sz="4400" dirty="0"/>
            </a:br>
            <a:endParaRPr lang="en-IN" sz="4400" dirty="0"/>
          </a:p>
        </p:txBody>
      </p:sp>
      <p:sp>
        <p:nvSpPr>
          <p:cNvPr id="3" name="Subtitle 2">
            <a:extLst>
              <a:ext uri="{FF2B5EF4-FFF2-40B4-BE49-F238E27FC236}">
                <a16:creationId xmlns:a16="http://schemas.microsoft.com/office/drawing/2014/main" id="{668415E8-0B13-633A-F4B8-A0A665B27A81}"/>
              </a:ext>
            </a:extLst>
          </p:cNvPr>
          <p:cNvSpPr>
            <a:spLocks noGrp="1"/>
          </p:cNvSpPr>
          <p:nvPr>
            <p:ph type="subTitle" idx="1"/>
          </p:nvPr>
        </p:nvSpPr>
        <p:spPr>
          <a:xfrm>
            <a:off x="1404257" y="3623809"/>
            <a:ext cx="9144000" cy="1655762"/>
          </a:xfrm>
        </p:spPr>
        <p:txBody>
          <a:bodyPr>
            <a:normAutofit/>
          </a:bodyPr>
          <a:lstStyle/>
          <a:p>
            <a:r>
              <a:rPr lang="en-IN" sz="3600" dirty="0"/>
              <a:t>Submitted by :</a:t>
            </a:r>
          </a:p>
          <a:p>
            <a:r>
              <a:rPr lang="en-IN" sz="3600" dirty="0"/>
              <a:t>RIYA .C. NANDANWAR</a:t>
            </a:r>
          </a:p>
        </p:txBody>
      </p:sp>
    </p:spTree>
    <p:extLst>
      <p:ext uri="{BB962C8B-B14F-4D97-AF65-F5344CB8AC3E}">
        <p14:creationId xmlns:p14="http://schemas.microsoft.com/office/powerpoint/2010/main" val="23842274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7CB25-3CCA-8E3C-B065-EA82E6BBBE28}"/>
              </a:ext>
            </a:extLst>
          </p:cNvPr>
          <p:cNvSpPr>
            <a:spLocks noGrp="1"/>
          </p:cNvSpPr>
          <p:nvPr>
            <p:ph type="title"/>
          </p:nvPr>
        </p:nvSpPr>
        <p:spPr/>
        <p:txBody>
          <a:bodyPr/>
          <a:lstStyle/>
          <a:p>
            <a:r>
              <a:rPr lang="en-IN" b="1" dirty="0"/>
              <a:t>Abstract</a:t>
            </a:r>
            <a:br>
              <a:rPr lang="en-IN" dirty="0"/>
            </a:br>
            <a:endParaRPr lang="en-IN" b="1" dirty="0"/>
          </a:p>
        </p:txBody>
      </p:sp>
      <p:sp>
        <p:nvSpPr>
          <p:cNvPr id="3" name="Content Placeholder 2">
            <a:extLst>
              <a:ext uri="{FF2B5EF4-FFF2-40B4-BE49-F238E27FC236}">
                <a16:creationId xmlns:a16="http://schemas.microsoft.com/office/drawing/2014/main" id="{6EC501EC-2348-7193-14A7-15C541ECA7DB}"/>
              </a:ext>
            </a:extLst>
          </p:cNvPr>
          <p:cNvSpPr>
            <a:spLocks noGrp="1"/>
          </p:cNvSpPr>
          <p:nvPr>
            <p:ph idx="1"/>
          </p:nvPr>
        </p:nvSpPr>
        <p:spPr/>
        <p:txBody>
          <a:bodyPr/>
          <a:lstStyle/>
          <a:p>
            <a:r>
              <a:rPr lang="en-IN" dirty="0"/>
              <a:t>Handwritten digit classification is a fundamental problem in the field of machine learning and computer vision. The MNIST dataset, consisting of 60,000 training images and 10,000 test images of handwritten digits, has been widely used as a benchmark for evaluating classification algorithms</a:t>
            </a:r>
          </a:p>
          <a:p>
            <a:r>
              <a:rPr lang="en-IN" dirty="0"/>
              <a:t>. In this study, we propose a neural network-based approach for classifying the MNIST digits. Our model consists of multiple layers, including an input layer, one or more hidden layers, and an output layer. We preprocess the images by normalizing the pixel values and convert them into a suitable format for the neural network. </a:t>
            </a:r>
          </a:p>
        </p:txBody>
      </p:sp>
    </p:spTree>
    <p:extLst>
      <p:ext uri="{BB962C8B-B14F-4D97-AF65-F5344CB8AC3E}">
        <p14:creationId xmlns:p14="http://schemas.microsoft.com/office/powerpoint/2010/main" val="10387798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F861B1D-844A-02E3-2569-30B081D56EB9}"/>
              </a:ext>
            </a:extLst>
          </p:cNvPr>
          <p:cNvSpPr txBox="1"/>
          <p:nvPr/>
        </p:nvSpPr>
        <p:spPr>
          <a:xfrm>
            <a:off x="239485" y="456247"/>
            <a:ext cx="11386457" cy="5970865"/>
          </a:xfrm>
          <a:prstGeom prst="rect">
            <a:avLst/>
          </a:prstGeom>
          <a:noFill/>
        </p:spPr>
        <p:txBody>
          <a:bodyPr wrap="square">
            <a:spAutoFit/>
          </a:bodyPr>
          <a:lstStyle/>
          <a:p>
            <a:pPr marL="285750" indent="-285750">
              <a:buFont typeface="Arial" panose="020B0604020202020204" pitchFamily="34" charset="0"/>
              <a:buChar char="•"/>
            </a:pPr>
            <a:r>
              <a:rPr lang="en-IN" sz="2800" dirty="0">
                <a:solidFill>
                  <a:srgbClr val="444444"/>
                </a:solidFill>
                <a:effectLst/>
                <a:latin typeface="Arial" panose="020B0604020202020204" pitchFamily="34" charset="0"/>
                <a:ea typeface="Calibri" panose="020F0502020204030204" pitchFamily="34" charset="0"/>
              </a:rPr>
              <a:t>The model is trained using the training images and their corresponding labels, adjusting the weights of the connections to minimize the difference between the predicted outputs and the actual labels</a:t>
            </a:r>
            <a:r>
              <a:rPr lang="en-IN" sz="1800" dirty="0">
                <a:solidFill>
                  <a:srgbClr val="444444"/>
                </a:solidFill>
                <a:effectLst/>
                <a:latin typeface="Arial" panose="020B0604020202020204" pitchFamily="34" charset="0"/>
                <a:ea typeface="Calibri" panose="020F0502020204030204" pitchFamily="34" charset="0"/>
              </a:rPr>
              <a:t>. </a:t>
            </a:r>
          </a:p>
          <a:p>
            <a:endParaRPr lang="en-IN" sz="1800" dirty="0">
              <a:solidFill>
                <a:srgbClr val="444444"/>
              </a:solidFill>
              <a:effectLst/>
              <a:latin typeface="Arial" panose="020B0604020202020204" pitchFamily="34" charset="0"/>
              <a:ea typeface="Calibri" panose="020F0502020204030204" pitchFamily="34" charset="0"/>
            </a:endParaRPr>
          </a:p>
          <a:p>
            <a:pPr marL="285750" indent="-285750">
              <a:buFont typeface="Arial" panose="020B0604020202020204" pitchFamily="34" charset="0"/>
              <a:buChar char="•"/>
            </a:pPr>
            <a:r>
              <a:rPr lang="en-IN" sz="2800" dirty="0"/>
              <a:t>We evaluate the performance of the model using metrics such as accuracy on the test images. Our results demonstrate the effectiveness of the neural network approach in accurately classifying handwritten digits.</a:t>
            </a:r>
          </a:p>
          <a:p>
            <a:pPr marL="285750" indent="-285750">
              <a:buFont typeface="Arial" panose="020B0604020202020204" pitchFamily="34" charset="0"/>
              <a:buChar char="•"/>
            </a:pPr>
            <a:endParaRPr lang="en-IN" sz="2800" dirty="0"/>
          </a:p>
          <a:p>
            <a:pPr marL="457200" indent="-457200" latinLnBrk="1">
              <a:buFont typeface="Arial" panose="020B0604020202020204" pitchFamily="34" charset="0"/>
              <a:buChar char="•"/>
            </a:pPr>
            <a:r>
              <a:rPr lang="en-IN" sz="2800" dirty="0"/>
              <a:t>This research contributes to the advancement of digit recognition techniques and provides insights into the application of neural networks in image classification tasks.</a:t>
            </a:r>
          </a:p>
          <a:p>
            <a:pPr latinLnBrk="1"/>
            <a:r>
              <a:rPr lang="en-IN" sz="2800" dirty="0"/>
              <a:t> </a:t>
            </a:r>
          </a:p>
          <a:p>
            <a:pPr marL="285750" indent="-285750">
              <a:buFont typeface="Arial" panose="020B0604020202020204" pitchFamily="34" charset="0"/>
              <a:buChar char="•"/>
            </a:pPr>
            <a:endParaRPr lang="en-IN" sz="2800" dirty="0"/>
          </a:p>
        </p:txBody>
      </p:sp>
    </p:spTree>
    <p:extLst>
      <p:ext uri="{BB962C8B-B14F-4D97-AF65-F5344CB8AC3E}">
        <p14:creationId xmlns:p14="http://schemas.microsoft.com/office/powerpoint/2010/main" val="2305196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583E2-34FD-9BBE-FD27-699D17FA5754}"/>
              </a:ext>
            </a:extLst>
          </p:cNvPr>
          <p:cNvSpPr>
            <a:spLocks noGrp="1"/>
          </p:cNvSpPr>
          <p:nvPr>
            <p:ph type="title"/>
          </p:nvPr>
        </p:nvSpPr>
        <p:spPr/>
        <p:txBody>
          <a:bodyPr/>
          <a:lstStyle/>
          <a:p>
            <a:r>
              <a:rPr lang="en-US" b="1" dirty="0"/>
              <a:t>Introduction</a:t>
            </a:r>
            <a:endParaRPr lang="en-IN" b="1" dirty="0"/>
          </a:p>
        </p:txBody>
      </p:sp>
      <p:sp>
        <p:nvSpPr>
          <p:cNvPr id="3" name="Content Placeholder 2">
            <a:extLst>
              <a:ext uri="{FF2B5EF4-FFF2-40B4-BE49-F238E27FC236}">
                <a16:creationId xmlns:a16="http://schemas.microsoft.com/office/drawing/2014/main" id="{3BC51EE3-DC2B-4B7F-363C-02F2392723E5}"/>
              </a:ext>
            </a:extLst>
          </p:cNvPr>
          <p:cNvSpPr>
            <a:spLocks noGrp="1"/>
          </p:cNvSpPr>
          <p:nvPr>
            <p:ph idx="1"/>
          </p:nvPr>
        </p:nvSpPr>
        <p:spPr/>
        <p:txBody>
          <a:bodyPr/>
          <a:lstStyle/>
          <a:p>
            <a:r>
              <a:rPr lang="en-US" dirty="0"/>
              <a:t>The Modiﬁed National Institute of Standards and Technology (MNIST) handwritten digit database, one of the most important areas of research in pattern recognition, has excellent research and practical value. Generally speaking, handwriting classiﬁcation techniques can be divided into either statistical feature-related methods or structural feature-related approaches.</a:t>
            </a:r>
          </a:p>
          <a:p>
            <a:r>
              <a:rPr lang="en-US" dirty="0"/>
              <a:t>The former is usually caused by features other than the beginning and end points, intersections, contours, and unevenness; whereas the latter is mostly due to the density and feature area of handwritten pointers, and it is easier to mitigate the impact of irregular writing. </a:t>
            </a:r>
            <a:endParaRPr lang="en-IN" dirty="0"/>
          </a:p>
        </p:txBody>
      </p:sp>
    </p:spTree>
    <p:extLst>
      <p:ext uri="{BB962C8B-B14F-4D97-AF65-F5344CB8AC3E}">
        <p14:creationId xmlns:p14="http://schemas.microsoft.com/office/powerpoint/2010/main" val="25281284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DEB0C-1E67-8767-C07F-79EDC8FB73F7}"/>
              </a:ext>
            </a:extLst>
          </p:cNvPr>
          <p:cNvSpPr>
            <a:spLocks noGrp="1"/>
          </p:cNvSpPr>
          <p:nvPr>
            <p:ph type="title"/>
          </p:nvPr>
        </p:nvSpPr>
        <p:spPr/>
        <p:txBody>
          <a:bodyPr>
            <a:noAutofit/>
          </a:bodyPr>
          <a:lstStyle/>
          <a:p>
            <a:r>
              <a:rPr lang="en-US" sz="3200" dirty="0"/>
              <a:t> </a:t>
            </a:r>
            <a:r>
              <a:rPr lang="en-US" sz="3200" b="1" dirty="0"/>
              <a:t>Traditional image processing algorithms focusing on static feature analysis at pixel level meet tremendous difﬁculties in MNIST handwriting recognition due to the two primary causes:</a:t>
            </a:r>
            <a:endParaRPr lang="en-IN" sz="3200" b="1" dirty="0"/>
          </a:p>
        </p:txBody>
      </p:sp>
      <p:sp>
        <p:nvSpPr>
          <p:cNvPr id="3" name="Content Placeholder 2">
            <a:extLst>
              <a:ext uri="{FF2B5EF4-FFF2-40B4-BE49-F238E27FC236}">
                <a16:creationId xmlns:a16="http://schemas.microsoft.com/office/drawing/2014/main" id="{4D0BB697-5D27-11D2-025C-B5D51A1FED9C}"/>
              </a:ext>
            </a:extLst>
          </p:cNvPr>
          <p:cNvSpPr>
            <a:spLocks noGrp="1"/>
          </p:cNvSpPr>
          <p:nvPr>
            <p:ph idx="1"/>
          </p:nvPr>
        </p:nvSpPr>
        <p:spPr/>
        <p:txBody>
          <a:bodyPr>
            <a:normAutofit fontScale="92500"/>
          </a:bodyPr>
          <a:lstStyle/>
          <a:p>
            <a:r>
              <a:rPr lang="en-US" dirty="0"/>
              <a:t>the glyph information for Arabic numerals is scarce and may share common features over different numbers</a:t>
            </a:r>
          </a:p>
          <a:p>
            <a:r>
              <a:rPr lang="en-US" dirty="0"/>
              <a:t>the handwriting varies dramatically from person to person, and some features may only occur under very speciﬁc but rare scenarios. These challenges mandate the use of dynamic information, such as the coordinates of the stroke trajectory point .</a:t>
            </a:r>
          </a:p>
          <a:p>
            <a:r>
              <a:rPr lang="en-US" dirty="0"/>
              <a:t>. By combining aforementioned typewritten features with traditional classiﬁcation methods, such as </a:t>
            </a:r>
            <a:r>
              <a:rPr lang="en-US" i="1" dirty="0"/>
              <a:t>k</a:t>
            </a:r>
            <a:r>
              <a:rPr lang="en-US" dirty="0"/>
              <a:t>-Nearest Neighbor (</a:t>
            </a:r>
            <a:r>
              <a:rPr lang="en-US" i="1" dirty="0"/>
              <a:t>k</a:t>
            </a:r>
            <a:r>
              <a:rPr lang="en-US" dirty="0"/>
              <a:t>-NN) and histogram of dimensional gradient (HOG) features [</a:t>
            </a:r>
            <a:r>
              <a:rPr lang="en-US" dirty="0">
                <a:hlinkClick r:id="rId2"/>
              </a:rPr>
              <a:t>5</a:t>
            </a:r>
            <a:r>
              <a:rPr lang="en-US" dirty="0"/>
              <a:t>,</a:t>
            </a:r>
            <a:r>
              <a:rPr lang="en-US" dirty="0">
                <a:hlinkClick r:id="rId3"/>
              </a:rPr>
              <a:t>11</a:t>
            </a:r>
            <a:r>
              <a:rPr lang="en-US" dirty="0"/>
              <a:t>], statistical classiﬁcation model [</a:t>
            </a:r>
            <a:r>
              <a:rPr lang="en-US" dirty="0">
                <a:hlinkClick r:id="rId4"/>
              </a:rPr>
              <a:t>14</a:t>
            </a:r>
            <a:r>
              <a:rPr lang="en-US" dirty="0"/>
              <a:t>–</a:t>
            </a:r>
            <a:r>
              <a:rPr lang="en-US" dirty="0">
                <a:hlinkClick r:id="rId5"/>
              </a:rPr>
              <a:t>18</a:t>
            </a:r>
            <a:r>
              <a:rPr lang="en-US" dirty="0"/>
              <a:t>], support vector machine (SVM) [</a:t>
            </a:r>
            <a:r>
              <a:rPr lang="en-US" dirty="0">
                <a:hlinkClick r:id="rId6"/>
              </a:rPr>
              <a:t>19</a:t>
            </a:r>
            <a:r>
              <a:rPr lang="en-US" dirty="0"/>
              <a:t>–</a:t>
            </a:r>
            <a:r>
              <a:rPr lang="en-US" dirty="0">
                <a:hlinkClick r:id="rId7"/>
              </a:rPr>
              <a:t>21</a:t>
            </a:r>
            <a:r>
              <a:rPr lang="en-US" dirty="0"/>
              <a:t>] and clustering [</a:t>
            </a:r>
            <a:r>
              <a:rPr lang="en-US" dirty="0">
                <a:hlinkClick r:id="rId8"/>
              </a:rPr>
              <a:t>22</a:t>
            </a:r>
            <a:r>
              <a:rPr lang="en-US" dirty="0"/>
              <a:t>,</a:t>
            </a:r>
            <a:r>
              <a:rPr lang="en-US" dirty="0">
                <a:hlinkClick r:id="rId9"/>
              </a:rPr>
              <a:t>23</a:t>
            </a:r>
            <a:r>
              <a:rPr lang="en-US" dirty="0"/>
              <a:t>], the classiﬁcation and recognition accuracy has been tremendously promoted.</a:t>
            </a:r>
            <a:endParaRPr lang="en-IN" dirty="0"/>
          </a:p>
          <a:p>
            <a:endParaRPr lang="en-IN" dirty="0"/>
          </a:p>
        </p:txBody>
      </p:sp>
    </p:spTree>
    <p:extLst>
      <p:ext uri="{BB962C8B-B14F-4D97-AF65-F5344CB8AC3E}">
        <p14:creationId xmlns:p14="http://schemas.microsoft.com/office/powerpoint/2010/main" val="15322793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69DF004-5A25-70A7-E797-69C7D73116DB}"/>
              </a:ext>
            </a:extLst>
          </p:cNvPr>
          <p:cNvSpPr txBox="1"/>
          <p:nvPr/>
        </p:nvSpPr>
        <p:spPr>
          <a:xfrm>
            <a:off x="288471" y="272143"/>
            <a:ext cx="11615058" cy="4524315"/>
          </a:xfrm>
          <a:prstGeom prst="rect">
            <a:avLst/>
          </a:prstGeom>
          <a:noFill/>
        </p:spPr>
        <p:txBody>
          <a:bodyPr wrap="square">
            <a:spAutoFit/>
          </a:bodyPr>
          <a:lstStyle/>
          <a:p>
            <a:pPr marL="285750" indent="-285750">
              <a:buFont typeface="Arial" panose="020B0604020202020204" pitchFamily="34" charset="0"/>
              <a:buChar char="•"/>
            </a:pPr>
            <a:r>
              <a:rPr lang="en-US" sz="2400" dirty="0">
                <a:effectLst/>
                <a:latin typeface="Times New Roman" panose="02020603050405020304" pitchFamily="18" charset="0"/>
                <a:ea typeface="Times New Roman" panose="02020603050405020304" pitchFamily="18" charset="0"/>
              </a:rPr>
              <a:t>In</a:t>
            </a:r>
            <a:r>
              <a:rPr lang="en-US" sz="2400" spc="-7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comparison</a:t>
            </a:r>
            <a:r>
              <a:rPr lang="en-US" sz="2400" spc="-7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to</a:t>
            </a:r>
            <a:r>
              <a:rPr lang="en-US" sz="2400" spc="-6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these</a:t>
            </a:r>
            <a:r>
              <a:rPr lang="en-US" sz="2400" spc="-7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approaches</a:t>
            </a:r>
            <a:r>
              <a:rPr lang="en-US" sz="2400" spc="-7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that</a:t>
            </a:r>
            <a:r>
              <a:rPr lang="en-US" sz="2400" spc="-6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rely</a:t>
            </a:r>
            <a:r>
              <a:rPr lang="en-US" sz="2400" spc="-7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on</a:t>
            </a:r>
            <a:r>
              <a:rPr lang="en-US" sz="2400" spc="-6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manual</a:t>
            </a:r>
            <a:r>
              <a:rPr lang="en-US" sz="2400" spc="-7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feature</a:t>
            </a:r>
            <a:r>
              <a:rPr lang="en-US" sz="2400" spc="-7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extraction,</a:t>
            </a:r>
            <a:r>
              <a:rPr lang="en-US" sz="2400" spc="-6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convolutional</a:t>
            </a:r>
            <a:r>
              <a:rPr lang="en-US" sz="2400" spc="-7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neural</a:t>
            </a:r>
            <a:r>
              <a:rPr lang="en-US" sz="2400" spc="-7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network (CNN)-based</a:t>
            </a:r>
            <a:r>
              <a:rPr lang="en-US" sz="2400" spc="-2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deep</a:t>
            </a:r>
            <a:r>
              <a:rPr lang="en-US" sz="2400" spc="-2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learning</a:t>
            </a:r>
            <a:r>
              <a:rPr lang="en-US" sz="2400" spc="-2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(DL)</a:t>
            </a:r>
            <a:r>
              <a:rPr lang="en-US" sz="2400" spc="-2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architectures,</a:t>
            </a:r>
            <a:r>
              <a:rPr lang="en-US" sz="2400" spc="-1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which</a:t>
            </a:r>
            <a:r>
              <a:rPr lang="en-US" sz="2400" spc="-2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is</a:t>
            </a:r>
            <a:r>
              <a:rPr lang="en-US" sz="2400" spc="-2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also</a:t>
            </a:r>
            <a:r>
              <a:rPr lang="en-US" sz="2400" spc="-2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known</a:t>
            </a:r>
            <a:r>
              <a:rPr lang="en-US" sz="2400" spc="-2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as</a:t>
            </a:r>
            <a:r>
              <a:rPr lang="en-US" sz="2400" spc="-2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deep</a:t>
            </a:r>
            <a:r>
              <a:rPr lang="en-US" sz="2400" spc="-2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neural</a:t>
            </a:r>
            <a:r>
              <a:rPr lang="en-US" sz="2400" spc="-2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networks</a:t>
            </a:r>
            <a:r>
              <a:rPr lang="en-US" sz="2400" spc="-2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(DNNs),</a:t>
            </a:r>
            <a:r>
              <a:rPr lang="en-US" sz="2400" spc="-1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can automatically extract the implicit correlation within and amongst data to ﬁnd useful patterns [</a:t>
            </a:r>
            <a:r>
              <a:rPr lang="en-US" sz="2400" u="none" strike="noStrike" dirty="0">
                <a:solidFill>
                  <a:srgbClr val="008CC0"/>
                </a:solidFill>
                <a:effectLst/>
                <a:latin typeface="Times New Roman" panose="02020603050405020304" pitchFamily="18" charset="0"/>
                <a:ea typeface="Times New Roman" panose="02020603050405020304" pitchFamily="18" charset="0"/>
                <a:hlinkClick r:id="rId2"/>
              </a:rPr>
              <a:t>5</a:t>
            </a:r>
            <a:r>
              <a:rPr lang="en-US" sz="2400" dirty="0">
                <a:effectLst/>
                <a:latin typeface="Times New Roman" panose="02020603050405020304" pitchFamily="18" charset="0"/>
                <a:ea typeface="Times New Roman" panose="02020603050405020304" pitchFamily="18" charset="0"/>
              </a:rPr>
              <a:t>,</a:t>
            </a:r>
            <a:r>
              <a:rPr lang="en-US" sz="2400" u="none" strike="noStrike" dirty="0">
                <a:solidFill>
                  <a:srgbClr val="008CC0"/>
                </a:solidFill>
                <a:effectLst/>
                <a:latin typeface="Times New Roman" panose="02020603050405020304" pitchFamily="18" charset="0"/>
                <a:ea typeface="Times New Roman" panose="02020603050405020304" pitchFamily="18" charset="0"/>
                <a:hlinkClick r:id="rId3"/>
              </a:rPr>
              <a:t>24</a:t>
            </a:r>
            <a:r>
              <a:rPr lang="en-US" sz="2400" dirty="0">
                <a:effectLst/>
                <a:latin typeface="Arial" panose="020B0604020202020204" pitchFamily="34" charset="0"/>
                <a:ea typeface="Times New Roman" panose="02020603050405020304" pitchFamily="18" charset="0"/>
                <a:cs typeface="Times New Roman" panose="02020603050405020304" pitchFamily="18" charset="0"/>
              </a:rPr>
              <a:t>–</a:t>
            </a:r>
            <a:r>
              <a:rPr lang="en-US" sz="2400" u="none" strike="noStrike" dirty="0">
                <a:solidFill>
                  <a:srgbClr val="008CC0"/>
                </a:solidFill>
                <a:effectLst/>
                <a:latin typeface="Times New Roman" panose="02020603050405020304" pitchFamily="18" charset="0"/>
                <a:ea typeface="Times New Roman" panose="02020603050405020304" pitchFamily="18" charset="0"/>
                <a:hlinkClick r:id="rId4"/>
              </a:rPr>
              <a:t>26</a:t>
            </a:r>
            <a:r>
              <a:rPr lang="en-US" sz="2400" dirty="0">
                <a:effectLst/>
                <a:latin typeface="Times New Roman" panose="02020603050405020304" pitchFamily="18" charset="0"/>
                <a:ea typeface="Times New Roman" panose="02020603050405020304" pitchFamily="18" charset="0"/>
              </a:rPr>
              <a:t>]. DNNs can process both shallow and deep features of the data in a thorough manner to produce more abstract and higher-level features with stronger semantic information.</a:t>
            </a:r>
          </a:p>
          <a:p>
            <a:pPr marL="285750" indent="-285750">
              <a:buFont typeface="Arial" panose="020B0604020202020204" pitchFamily="34" charset="0"/>
              <a:buChar char="•"/>
            </a:pPr>
            <a:endParaRPr lang="en-US" sz="2400" dirty="0">
              <a:latin typeface="Times New Roman" panose="02020603050405020304" pitchFamily="18" charset="0"/>
            </a:endParaRPr>
          </a:p>
          <a:p>
            <a:pPr marL="285750" indent="-285750">
              <a:buFont typeface="Arial" panose="020B0604020202020204" pitchFamily="34" charset="0"/>
              <a:buChar char="•"/>
            </a:pPr>
            <a:r>
              <a:rPr lang="en-US" sz="2400" dirty="0"/>
              <a:t>Additionally, they are easier to design, modularize, and modify for different applications. By replacing the fully linked layer section of CNNs by Gated Recurrent Units (GRU), </a:t>
            </a:r>
            <a:r>
              <a:rPr lang="en-US" sz="2400" dirty="0" err="1"/>
              <a:t>Vantruong</a:t>
            </a:r>
            <a:r>
              <a:rPr lang="en-US" sz="2400" dirty="0"/>
              <a:t> Nguyen merged CNNs and GRU and achieve a recognition accuracy of up to 99.21% [</a:t>
            </a:r>
            <a:r>
              <a:rPr lang="en-US" sz="2400" dirty="0">
                <a:hlinkClick r:id="rId5"/>
              </a:rPr>
              <a:t>20</a:t>
            </a:r>
            <a:r>
              <a:rPr lang="en-US" sz="2400" dirty="0"/>
              <a:t>]. Typically, in order to achieve a higher recognition rate, more complex algorithm is required, which demands more computational time and higher space usage.</a:t>
            </a:r>
            <a:endParaRPr lang="en-IN" sz="2400" dirty="0"/>
          </a:p>
        </p:txBody>
      </p:sp>
    </p:spTree>
    <p:extLst>
      <p:ext uri="{BB962C8B-B14F-4D97-AF65-F5344CB8AC3E}">
        <p14:creationId xmlns:p14="http://schemas.microsoft.com/office/powerpoint/2010/main" val="23863756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12A9E3-1EB5-E2E2-358D-89236D0BE690}"/>
              </a:ext>
            </a:extLst>
          </p:cNvPr>
          <p:cNvSpPr>
            <a:spLocks noGrp="1"/>
          </p:cNvSpPr>
          <p:nvPr>
            <p:ph type="title"/>
          </p:nvPr>
        </p:nvSpPr>
        <p:spPr/>
        <p:txBody>
          <a:bodyPr/>
          <a:lstStyle/>
          <a:p>
            <a:r>
              <a:rPr lang="en-US" b="1" i="1" dirty="0"/>
              <a:t>Model Hyperparameter Optimization Strategy</a:t>
            </a:r>
            <a:br>
              <a:rPr lang="en-IN" dirty="0"/>
            </a:br>
            <a:endParaRPr lang="en-IN" dirty="0"/>
          </a:p>
        </p:txBody>
      </p:sp>
      <p:sp>
        <p:nvSpPr>
          <p:cNvPr id="3" name="Content Placeholder 2">
            <a:extLst>
              <a:ext uri="{FF2B5EF4-FFF2-40B4-BE49-F238E27FC236}">
                <a16:creationId xmlns:a16="http://schemas.microsoft.com/office/drawing/2014/main" id="{55CF53AC-48F3-EDD0-3E79-77996DAA3815}"/>
              </a:ext>
            </a:extLst>
          </p:cNvPr>
          <p:cNvSpPr>
            <a:spLocks noGrp="1"/>
          </p:cNvSpPr>
          <p:nvPr>
            <p:ph idx="1"/>
          </p:nvPr>
        </p:nvSpPr>
        <p:spPr/>
        <p:txBody>
          <a:bodyPr/>
          <a:lstStyle/>
          <a:p>
            <a:pPr marL="0" indent="0">
              <a:buNone/>
            </a:pPr>
            <a:r>
              <a:rPr lang="en-US" sz="3600" dirty="0"/>
              <a:t>Once a CNN backbone architecture is established, detailed hyperparameters (e.g., batch size, learning rate, etc.) need to be tweaked to determine the best shape of this CNN model to ﬁt the training and validation dataset, with a hope of achieving the best performance (e.g., accuracy, loss, etc.) upon other general data of the same kind.</a:t>
            </a:r>
            <a:endParaRPr lang="en-IN" sz="3600" dirty="0"/>
          </a:p>
          <a:p>
            <a:pPr marL="0" indent="0">
              <a:buNone/>
            </a:pPr>
            <a:endParaRPr lang="en-IN" dirty="0"/>
          </a:p>
        </p:txBody>
      </p:sp>
    </p:spTree>
    <p:extLst>
      <p:ext uri="{BB962C8B-B14F-4D97-AF65-F5344CB8AC3E}">
        <p14:creationId xmlns:p14="http://schemas.microsoft.com/office/powerpoint/2010/main" val="9689251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96657-4AB3-6D6A-C9D0-652239843A94}"/>
              </a:ext>
            </a:extLst>
          </p:cNvPr>
          <p:cNvSpPr>
            <a:spLocks noGrp="1"/>
          </p:cNvSpPr>
          <p:nvPr>
            <p:ph type="title"/>
          </p:nvPr>
        </p:nvSpPr>
        <p:spPr/>
        <p:txBody>
          <a:bodyPr/>
          <a:lstStyle/>
          <a:p>
            <a:r>
              <a:rPr lang="en-US" b="1" i="1" dirty="0"/>
              <a:t>Batch Size Analysis and Selection Method</a:t>
            </a:r>
            <a:br>
              <a:rPr lang="en-IN" b="1" dirty="0"/>
            </a:br>
            <a:endParaRPr lang="en-IN" b="1" dirty="0"/>
          </a:p>
        </p:txBody>
      </p:sp>
      <p:sp>
        <p:nvSpPr>
          <p:cNvPr id="3" name="Content Placeholder 2">
            <a:extLst>
              <a:ext uri="{FF2B5EF4-FFF2-40B4-BE49-F238E27FC236}">
                <a16:creationId xmlns:a16="http://schemas.microsoft.com/office/drawing/2014/main" id="{B88EEB45-9BC1-9A0A-1BBF-ED3C5E33D4B1}"/>
              </a:ext>
            </a:extLst>
          </p:cNvPr>
          <p:cNvSpPr>
            <a:spLocks noGrp="1"/>
          </p:cNvSpPr>
          <p:nvPr>
            <p:ph idx="1"/>
          </p:nvPr>
        </p:nvSpPr>
        <p:spPr/>
        <p:txBody>
          <a:bodyPr/>
          <a:lstStyle/>
          <a:p>
            <a:pPr marL="0" indent="0">
              <a:buNone/>
            </a:pPr>
            <a:r>
              <a:rPr lang="en-US" dirty="0"/>
              <a:t>The training batch size frequently has a signiﬁcant impact on the training outcomes. Too small batch size results in long training time and even may generate severe gradient oscillations, which will make the models converge slowly or even impossible. In contrast, too large value may lure the model to converge to a local rather than a global optimal value. Consequently, it is challenging to get the ultimate ideal solution through training. Thus, by appropriately adjusting the batch size, it is possible to effectively increase memory utilization, increase the parallel efﬁciency of high-dimensional matrix multiplication, reduce training time and the likelihood of gradient oscillation, pushing the model convergence to the optimal results.</a:t>
            </a:r>
            <a:endParaRPr lang="en-IN" dirty="0"/>
          </a:p>
          <a:p>
            <a:pPr marL="0" indent="0">
              <a:buNone/>
            </a:pPr>
            <a:endParaRPr lang="en-IN" dirty="0"/>
          </a:p>
        </p:txBody>
      </p:sp>
    </p:spTree>
    <p:extLst>
      <p:ext uri="{BB962C8B-B14F-4D97-AF65-F5344CB8AC3E}">
        <p14:creationId xmlns:p14="http://schemas.microsoft.com/office/powerpoint/2010/main" val="27814549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C5E5B8-1B55-2DE7-2B9F-866F5E4DB60E}"/>
              </a:ext>
            </a:extLst>
          </p:cNvPr>
          <p:cNvSpPr>
            <a:spLocks noGrp="1"/>
          </p:cNvSpPr>
          <p:nvPr>
            <p:ph type="title"/>
          </p:nvPr>
        </p:nvSpPr>
        <p:spPr/>
        <p:txBody>
          <a:bodyPr/>
          <a:lstStyle/>
          <a:p>
            <a:r>
              <a:rPr lang="en-US" i="1" dirty="0"/>
              <a:t>Model Validation and Evaluation</a:t>
            </a:r>
            <a:br>
              <a:rPr lang="en-IN" dirty="0"/>
            </a:br>
            <a:endParaRPr lang="en-IN" dirty="0"/>
          </a:p>
        </p:txBody>
      </p:sp>
      <p:sp>
        <p:nvSpPr>
          <p:cNvPr id="3" name="Content Placeholder 2">
            <a:extLst>
              <a:ext uri="{FF2B5EF4-FFF2-40B4-BE49-F238E27FC236}">
                <a16:creationId xmlns:a16="http://schemas.microsoft.com/office/drawing/2014/main" id="{A5A09C27-B030-8FD2-C510-0761ED9DE0EB}"/>
              </a:ext>
            </a:extLst>
          </p:cNvPr>
          <p:cNvSpPr>
            <a:spLocks noGrp="1"/>
          </p:cNvSpPr>
          <p:nvPr>
            <p:ph idx="1"/>
          </p:nvPr>
        </p:nvSpPr>
        <p:spPr/>
        <p:txBody>
          <a:bodyPr>
            <a:normAutofit/>
          </a:bodyPr>
          <a:lstStyle/>
          <a:p>
            <a:pPr marL="0" indent="0">
              <a:buNone/>
            </a:pPr>
            <a:r>
              <a:rPr lang="en-US" sz="3600" dirty="0"/>
              <a:t>In order to evaluate the built model, the cross-entropy, </a:t>
            </a:r>
            <a:r>
              <a:rPr lang="en-US" sz="3600" dirty="0">
                <a:hlinkClick r:id="rId2"/>
              </a:rPr>
              <a:t>Eq. (1)</a:t>
            </a:r>
            <a:r>
              <a:rPr lang="en-US" sz="3600" dirty="0"/>
              <a:t>, is employed as the COST function to quantify the loss of the model outcomes. The index is minimized over the training process to improve the recognition ability of the model </a:t>
            </a:r>
            <a:br>
              <a:rPr lang="en-US" sz="3600" dirty="0"/>
            </a:br>
            <a:r>
              <a:rPr lang="en-US" sz="3600" dirty="0"/>
              <a:t>                                   X</a:t>
            </a:r>
            <a:endParaRPr lang="en-IN" sz="3600" dirty="0">
              <a:effectLst/>
            </a:endParaRPr>
          </a:p>
          <a:p>
            <a:pPr marL="0" indent="0">
              <a:buNone/>
            </a:pPr>
            <a:r>
              <a:rPr lang="en-US" sz="3600" i="1" dirty="0"/>
              <a:t>H</a:t>
            </a:r>
            <a:r>
              <a:rPr lang="en-US" sz="3600" i="1" baseline="-25000" dirty="0"/>
              <a:t>y</a:t>
            </a:r>
            <a:r>
              <a:rPr lang="en-US" sz="3600" dirty="0"/>
              <a:t>0 ð</a:t>
            </a:r>
            <a:r>
              <a:rPr lang="en-US" sz="3600" i="1" dirty="0"/>
              <a:t>y</a:t>
            </a:r>
            <a:r>
              <a:rPr lang="en-US" sz="3600" dirty="0"/>
              <a:t>Þ¼ - ^</a:t>
            </a:r>
            <a:r>
              <a:rPr lang="en-US" sz="3600" i="1" dirty="0"/>
              <a:t>y</a:t>
            </a:r>
            <a:r>
              <a:rPr lang="en-US" sz="3600" baseline="30000" dirty="0"/>
              <a:t>0</a:t>
            </a:r>
            <a:r>
              <a:rPr lang="en-US" sz="3600" dirty="0"/>
              <a:t> </a:t>
            </a:r>
            <a:r>
              <a:rPr lang="en-US" sz="3600" dirty="0" err="1"/>
              <a:t>logð</a:t>
            </a:r>
            <a:r>
              <a:rPr lang="en-US" sz="3600" i="1" dirty="0" err="1"/>
              <a:t>y</a:t>
            </a:r>
            <a:r>
              <a:rPr lang="en-US" sz="3600" i="1" baseline="-25000" dirty="0" err="1"/>
              <a:t>i</a:t>
            </a:r>
            <a:r>
              <a:rPr lang="en-US" sz="3600" dirty="0" err="1"/>
              <a:t>Þ</a:t>
            </a:r>
            <a:endParaRPr lang="en-US" sz="3600" dirty="0"/>
          </a:p>
          <a:p>
            <a:pPr marL="0" indent="0">
              <a:buNone/>
            </a:pPr>
            <a:endParaRPr lang="en-IN" dirty="0"/>
          </a:p>
        </p:txBody>
      </p:sp>
    </p:spTree>
    <p:extLst>
      <p:ext uri="{BB962C8B-B14F-4D97-AF65-F5344CB8AC3E}">
        <p14:creationId xmlns:p14="http://schemas.microsoft.com/office/powerpoint/2010/main" val="5575706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D357DF2-1975-F226-D3ED-E554434613F8}"/>
              </a:ext>
            </a:extLst>
          </p:cNvPr>
          <p:cNvSpPr txBox="1"/>
          <p:nvPr/>
        </p:nvSpPr>
        <p:spPr>
          <a:xfrm>
            <a:off x="304799" y="141514"/>
            <a:ext cx="10918371" cy="5882123"/>
          </a:xfrm>
          <a:prstGeom prst="rect">
            <a:avLst/>
          </a:prstGeom>
          <a:noFill/>
        </p:spPr>
        <p:txBody>
          <a:bodyPr wrap="square">
            <a:spAutoFit/>
          </a:bodyPr>
          <a:lstStyle/>
          <a:p>
            <a:pPr marL="742950" lvl="1" indent="-285750" algn="just">
              <a:spcBef>
                <a:spcPts val="330"/>
              </a:spcBef>
              <a:buSzPts val="1100"/>
              <a:buFont typeface="Times New Roman" panose="02020603050405020304" pitchFamily="18" charset="0"/>
              <a:buAutoNum type="arabicPeriod"/>
              <a:tabLst>
                <a:tab pos="469265" algn="l"/>
              </a:tabLst>
            </a:pPr>
            <a:r>
              <a:rPr lang="en-US" sz="2800" i="1" spc="-5" dirty="0">
                <a:effectLst/>
                <a:latin typeface="Times New Roman" panose="02020603050405020304" pitchFamily="18" charset="0"/>
                <a:ea typeface="Times New Roman" panose="02020603050405020304" pitchFamily="18" charset="0"/>
              </a:rPr>
              <a:t>MNIST</a:t>
            </a:r>
            <a:r>
              <a:rPr lang="en-US" sz="2800" i="1" spc="100" dirty="0">
                <a:effectLst/>
                <a:latin typeface="Times New Roman" panose="02020603050405020304" pitchFamily="18" charset="0"/>
                <a:ea typeface="Times New Roman" panose="02020603050405020304" pitchFamily="18" charset="0"/>
              </a:rPr>
              <a:t> </a:t>
            </a:r>
            <a:r>
              <a:rPr lang="en-US" sz="2800" i="1" spc="-5" dirty="0">
                <a:effectLst/>
                <a:latin typeface="Times New Roman" panose="02020603050405020304" pitchFamily="18" charset="0"/>
                <a:ea typeface="Times New Roman" panose="02020603050405020304" pitchFamily="18" charset="0"/>
              </a:rPr>
              <a:t>Handwritten</a:t>
            </a:r>
            <a:r>
              <a:rPr lang="en-US" sz="2800" i="1" spc="110" dirty="0">
                <a:effectLst/>
                <a:latin typeface="Times New Roman" panose="02020603050405020304" pitchFamily="18" charset="0"/>
                <a:ea typeface="Times New Roman" panose="02020603050405020304" pitchFamily="18" charset="0"/>
              </a:rPr>
              <a:t> </a:t>
            </a:r>
            <a:r>
              <a:rPr lang="en-US" sz="2800" i="1" spc="-5" dirty="0">
                <a:effectLst/>
                <a:latin typeface="Times New Roman" panose="02020603050405020304" pitchFamily="18" charset="0"/>
                <a:ea typeface="Times New Roman" panose="02020603050405020304" pitchFamily="18" charset="0"/>
              </a:rPr>
              <a:t>Digit</a:t>
            </a:r>
            <a:r>
              <a:rPr lang="en-US" sz="2800" i="1" spc="105" dirty="0">
                <a:effectLst/>
                <a:latin typeface="Times New Roman" panose="02020603050405020304" pitchFamily="18" charset="0"/>
                <a:ea typeface="Times New Roman" panose="02020603050405020304" pitchFamily="18" charset="0"/>
              </a:rPr>
              <a:t> </a:t>
            </a:r>
            <a:r>
              <a:rPr lang="en-US" sz="2800" i="1" spc="-10" dirty="0">
                <a:effectLst/>
                <a:latin typeface="Times New Roman" panose="02020603050405020304" pitchFamily="18" charset="0"/>
                <a:ea typeface="Times New Roman" panose="02020603050405020304" pitchFamily="18" charset="0"/>
              </a:rPr>
              <a:t>Dataset</a:t>
            </a:r>
            <a:endParaRPr lang="en-IN" sz="2800" spc="-5" dirty="0">
              <a:effectLst/>
              <a:latin typeface="Times New Roman" panose="02020603050405020304" pitchFamily="18" charset="0"/>
              <a:ea typeface="Times New Roman" panose="02020603050405020304" pitchFamily="18" charset="0"/>
            </a:endParaRPr>
          </a:p>
          <a:p>
            <a:pPr marL="227965" marR="66040" indent="252095">
              <a:lnSpc>
                <a:spcPct val="101000"/>
              </a:lnSpc>
              <a:spcBef>
                <a:spcPts val="330"/>
              </a:spcBef>
              <a:buNone/>
            </a:pPr>
            <a:r>
              <a:rPr lang="en-US" sz="2800" dirty="0">
                <a:effectLst/>
                <a:latin typeface="Times New Roman" panose="02020603050405020304" pitchFamily="18" charset="0"/>
                <a:ea typeface="Times New Roman" panose="02020603050405020304" pitchFamily="18" charset="0"/>
              </a:rPr>
              <a:t>MNIST</a:t>
            </a:r>
            <a:r>
              <a:rPr lang="en-US" sz="2800" spc="-40"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database</a:t>
            </a:r>
            <a:r>
              <a:rPr lang="en-US" sz="2800" spc="-45"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is</a:t>
            </a:r>
            <a:r>
              <a:rPr lang="en-US" sz="2800" spc="-40"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one</a:t>
            </a:r>
            <a:r>
              <a:rPr lang="en-US" sz="2800" spc="-50"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of</a:t>
            </a:r>
            <a:r>
              <a:rPr lang="en-US" sz="2800" spc="-45"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the</a:t>
            </a:r>
            <a:r>
              <a:rPr lang="en-US" sz="2800" spc="-45"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foremost</a:t>
            </a:r>
            <a:r>
              <a:rPr lang="en-US" sz="2800" spc="-45"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classical</a:t>
            </a:r>
            <a:r>
              <a:rPr lang="en-US" sz="2800" spc="-40"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imaging</a:t>
            </a:r>
            <a:r>
              <a:rPr lang="en-US" sz="2800" spc="-45"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datasets</a:t>
            </a:r>
            <a:r>
              <a:rPr lang="en-US" sz="2800" spc="-45"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within</a:t>
            </a:r>
            <a:r>
              <a:rPr lang="en-US" sz="2800" spc="-40"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the</a:t>
            </a:r>
            <a:r>
              <a:rPr lang="en-US" sz="2800" spc="-45"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ﬁeld</a:t>
            </a:r>
            <a:r>
              <a:rPr lang="en-US" sz="2800" spc="-45"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of</a:t>
            </a:r>
            <a:r>
              <a:rPr lang="en-US" sz="2800" spc="-50"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machine</a:t>
            </a:r>
            <a:r>
              <a:rPr lang="en-US" sz="2800" spc="-40"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learning, and</a:t>
            </a:r>
            <a:r>
              <a:rPr lang="en-US" sz="2800" spc="355"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is</a:t>
            </a:r>
            <a:r>
              <a:rPr lang="en-US" sz="2800" spc="365"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broadly</a:t>
            </a:r>
            <a:r>
              <a:rPr lang="en-US" sz="2800" spc="355"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utilized</a:t>
            </a:r>
            <a:r>
              <a:rPr lang="en-US" sz="2800" spc="360"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for</a:t>
            </a:r>
            <a:r>
              <a:rPr lang="en-US" sz="2800" spc="365"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benchmarking</a:t>
            </a:r>
            <a:r>
              <a:rPr lang="en-US" sz="2800" spc="355"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in</a:t>
            </a:r>
            <a:r>
              <a:rPr lang="en-US" sz="2800" spc="360"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image</a:t>
            </a:r>
            <a:r>
              <a:rPr lang="en-US" sz="2800" spc="365"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classiﬁcation.</a:t>
            </a:r>
            <a:r>
              <a:rPr lang="en-US" sz="2800" spc="355"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The</a:t>
            </a:r>
            <a:r>
              <a:rPr lang="en-US" sz="2800" spc="360"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MNIST</a:t>
            </a:r>
            <a:r>
              <a:rPr lang="en-US" sz="2800" spc="360"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database</a:t>
            </a:r>
            <a:r>
              <a:rPr lang="en-US" sz="2800" spc="360" dirty="0">
                <a:effectLst/>
                <a:latin typeface="Times New Roman" panose="02020603050405020304" pitchFamily="18" charset="0"/>
                <a:ea typeface="Times New Roman" panose="02020603050405020304" pitchFamily="18" charset="0"/>
              </a:rPr>
              <a:t> </a:t>
            </a:r>
            <a:r>
              <a:rPr lang="en-US" sz="2800" spc="-10" dirty="0">
                <a:effectLst/>
                <a:latin typeface="Times New Roman" panose="02020603050405020304" pitchFamily="18" charset="0"/>
                <a:ea typeface="Times New Roman" panose="02020603050405020304" pitchFamily="18" charset="0"/>
              </a:rPr>
              <a:t>contains</a:t>
            </a:r>
            <a:endParaRPr lang="en-IN" sz="2800" dirty="0">
              <a:effectLst/>
              <a:latin typeface="Times New Roman" panose="02020603050405020304" pitchFamily="18" charset="0"/>
              <a:ea typeface="Times New Roman" panose="02020603050405020304" pitchFamily="18" charset="0"/>
            </a:endParaRPr>
          </a:p>
          <a:p>
            <a:pPr>
              <a:buNone/>
            </a:pPr>
            <a:br>
              <a:rPr lang="en-US" sz="2800" dirty="0">
                <a:effectLst/>
                <a:latin typeface="Times New Roman" panose="02020603050405020304" pitchFamily="18" charset="0"/>
                <a:ea typeface="Times New Roman" panose="02020603050405020304" pitchFamily="18" charset="0"/>
              </a:rPr>
            </a:br>
            <a:endParaRPr lang="en-IN" sz="2800" dirty="0">
              <a:effectLst/>
            </a:endParaRPr>
          </a:p>
          <a:p>
            <a:pPr>
              <a:spcBef>
                <a:spcPts val="770"/>
              </a:spcBef>
              <a:buNone/>
            </a:pPr>
            <a:r>
              <a:rPr lang="en-US" sz="2800" dirty="0">
                <a:effectLst/>
                <a:latin typeface="Times New Roman" panose="02020603050405020304" pitchFamily="18" charset="0"/>
                <a:ea typeface="Times New Roman" panose="02020603050405020304" pitchFamily="18" charset="0"/>
              </a:rPr>
              <a:t> </a:t>
            </a:r>
            <a:endParaRPr lang="en-IN" sz="2800" dirty="0">
              <a:effectLst/>
              <a:latin typeface="Times New Roman" panose="02020603050405020304" pitchFamily="18" charset="0"/>
              <a:ea typeface="Times New Roman" panose="02020603050405020304" pitchFamily="18" charset="0"/>
            </a:endParaRPr>
          </a:p>
          <a:p>
            <a:pPr marL="227965" marR="224790" algn="just">
              <a:lnSpc>
                <a:spcPct val="101000"/>
              </a:lnSpc>
              <a:spcBef>
                <a:spcPts val="5"/>
              </a:spcBef>
              <a:buNone/>
            </a:pPr>
            <a:r>
              <a:rPr lang="en-US" sz="2800" dirty="0">
                <a:effectLst/>
                <a:latin typeface="Times New Roman" panose="02020603050405020304" pitchFamily="18" charset="0"/>
                <a:ea typeface="Times New Roman" panose="02020603050405020304" pitchFamily="18" charset="0"/>
              </a:rPr>
              <a:t>60,000 training samples and 10,000 testing samples (</a:t>
            </a:r>
            <a:r>
              <a:rPr lang="en-US" sz="2800" u="none" strike="noStrike" dirty="0">
                <a:solidFill>
                  <a:srgbClr val="008CC0"/>
                </a:solidFill>
                <a:effectLst/>
                <a:latin typeface="Times New Roman" panose="02020603050405020304" pitchFamily="18" charset="0"/>
                <a:ea typeface="Times New Roman" panose="02020603050405020304" pitchFamily="18" charset="0"/>
                <a:hlinkClick r:id="rId2"/>
              </a:rPr>
              <a:t>Table 1</a:t>
            </a:r>
            <a:r>
              <a:rPr lang="en-US" sz="2800" dirty="0">
                <a:effectLst/>
                <a:latin typeface="Times New Roman" panose="02020603050405020304" pitchFamily="18" charset="0"/>
                <a:ea typeface="Times New Roman" panose="02020603050405020304" pitchFamily="18" charset="0"/>
              </a:rPr>
              <a:t>), each consisting of a 28*28 pixel grayscale image of a handwritten Arabic digit. The number sample in each image is normalized/standardized and centered.</a:t>
            </a:r>
            <a:r>
              <a:rPr lang="en-US" sz="2800" spc="400"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The</a:t>
            </a:r>
            <a:r>
              <a:rPr lang="en-US" sz="2800" spc="400"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60,000</a:t>
            </a:r>
            <a:r>
              <a:rPr lang="en-US" sz="2800" spc="400"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training</a:t>
            </a:r>
            <a:r>
              <a:rPr lang="en-US" sz="2800" spc="400"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samples</a:t>
            </a:r>
            <a:r>
              <a:rPr lang="en-US" sz="2800" spc="400"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are</a:t>
            </a:r>
            <a:r>
              <a:rPr lang="en-US" sz="2800" spc="400"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further</a:t>
            </a:r>
            <a:r>
              <a:rPr lang="en-US" sz="2800" spc="400"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divided</a:t>
            </a:r>
            <a:r>
              <a:rPr lang="en-US" sz="2800" spc="400"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into</a:t>
            </a:r>
            <a:r>
              <a:rPr lang="en-US" sz="2800" spc="400"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55,000</a:t>
            </a:r>
            <a:r>
              <a:rPr lang="en-US" sz="2800" spc="400"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training</a:t>
            </a:r>
            <a:r>
              <a:rPr lang="en-US" sz="2800" spc="400"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dataset</a:t>
            </a:r>
            <a:r>
              <a:rPr lang="en-US" sz="2800" spc="400"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and</a:t>
            </a:r>
            <a:r>
              <a:rPr lang="en-US" sz="2800" spc="200"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5,000 validation dataset.</a:t>
            </a:r>
            <a:endParaRPr lang="en-IN" sz="2800" dirty="0">
              <a:effectLst/>
              <a:latin typeface="Times New Roman" panose="02020603050405020304" pitchFamily="18" charset="0"/>
              <a:ea typeface="Times New Roman" panose="02020603050405020304" pitchFamily="18" charset="0"/>
            </a:endParaRPr>
          </a:p>
          <a:p>
            <a:pPr>
              <a:spcBef>
                <a:spcPts val="80"/>
              </a:spcBef>
              <a:buNone/>
            </a:pPr>
            <a:r>
              <a:rPr lang="en-US" sz="2800" dirty="0">
                <a:effectLst/>
                <a:latin typeface="Times New Roman" panose="02020603050405020304" pitchFamily="18" charset="0"/>
                <a:ea typeface="Times New Roman" panose="02020603050405020304" pitchFamily="18" charset="0"/>
              </a:rPr>
              <a:t> </a:t>
            </a:r>
            <a:endParaRPr lang="en-IN" sz="2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896720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7BFF5BB-341F-6C5E-4138-4D5F3C2F6E5A}"/>
              </a:ext>
            </a:extLst>
          </p:cNvPr>
          <p:cNvSpPr txBox="1"/>
          <p:nvPr/>
        </p:nvSpPr>
        <p:spPr>
          <a:xfrm>
            <a:off x="359229" y="283028"/>
            <a:ext cx="11517085" cy="5831276"/>
          </a:xfrm>
          <a:prstGeom prst="rect">
            <a:avLst/>
          </a:prstGeom>
          <a:noFill/>
        </p:spPr>
        <p:txBody>
          <a:bodyPr wrap="square">
            <a:spAutoFit/>
          </a:bodyPr>
          <a:lstStyle/>
          <a:p>
            <a:pPr lvl="0" algn="just">
              <a:spcBef>
                <a:spcPts val="5"/>
              </a:spcBef>
              <a:buSzPts val="1100"/>
              <a:tabLst>
                <a:tab pos="367030" algn="l"/>
              </a:tabLst>
            </a:pPr>
            <a:r>
              <a:rPr lang="en-US" sz="3200" spc="-10" dirty="0">
                <a:effectLst/>
                <a:latin typeface="Times New Roman" panose="02020603050405020304" pitchFamily="18" charset="0"/>
                <a:ea typeface="Times New Roman" panose="02020603050405020304" pitchFamily="18" charset="0"/>
              </a:rPr>
              <a:t>Conclusions</a:t>
            </a:r>
            <a:endParaRPr lang="en-IN" sz="3200" spc="0" dirty="0">
              <a:effectLst/>
              <a:latin typeface="Times New Roman" panose="02020603050405020304" pitchFamily="18" charset="0"/>
              <a:ea typeface="Times New Roman" panose="02020603050405020304" pitchFamily="18" charset="0"/>
            </a:endParaRPr>
          </a:p>
          <a:p>
            <a:pPr marL="227965" marR="224790" indent="252095" algn="just">
              <a:lnSpc>
                <a:spcPct val="101000"/>
              </a:lnSpc>
              <a:spcBef>
                <a:spcPts val="330"/>
              </a:spcBef>
              <a:buNone/>
            </a:pPr>
            <a:r>
              <a:rPr lang="en-US" sz="3200" dirty="0">
                <a:effectLst/>
                <a:latin typeface="Times New Roman" panose="02020603050405020304" pitchFamily="18" charset="0"/>
                <a:ea typeface="Times New Roman" panose="02020603050405020304" pitchFamily="18" charset="0"/>
              </a:rPr>
              <a:t>This</a:t>
            </a:r>
            <a:r>
              <a:rPr lang="en-US" sz="3200" spc="-60" dirty="0">
                <a:effectLst/>
                <a:latin typeface="Times New Roman" panose="02020603050405020304" pitchFamily="18" charset="0"/>
                <a:ea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rPr>
              <a:t>study</a:t>
            </a:r>
            <a:r>
              <a:rPr lang="en-US" sz="3200" spc="-60" dirty="0">
                <a:effectLst/>
                <a:latin typeface="Times New Roman" panose="02020603050405020304" pitchFamily="18" charset="0"/>
                <a:ea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rPr>
              <a:t>elaborates</a:t>
            </a:r>
            <a:r>
              <a:rPr lang="en-US" sz="3200" spc="-60" dirty="0">
                <a:effectLst/>
                <a:latin typeface="Times New Roman" panose="02020603050405020304" pitchFamily="18" charset="0"/>
                <a:ea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rPr>
              <a:t>the</a:t>
            </a:r>
            <a:r>
              <a:rPr lang="en-US" sz="3200" spc="-60" dirty="0">
                <a:effectLst/>
                <a:latin typeface="Times New Roman" panose="02020603050405020304" pitchFamily="18" charset="0"/>
                <a:ea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rPr>
              <a:t>details</a:t>
            </a:r>
            <a:r>
              <a:rPr lang="en-US" sz="3200" spc="-60" dirty="0">
                <a:effectLst/>
                <a:latin typeface="Times New Roman" panose="02020603050405020304" pitchFamily="18" charset="0"/>
                <a:ea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rPr>
              <a:t>of</a:t>
            </a:r>
            <a:r>
              <a:rPr lang="en-US" sz="3200" spc="-60" dirty="0">
                <a:effectLst/>
                <a:latin typeface="Times New Roman" panose="02020603050405020304" pitchFamily="18" charset="0"/>
                <a:ea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rPr>
              <a:t>developing</a:t>
            </a:r>
            <a:r>
              <a:rPr lang="en-US" sz="3200" spc="-60" dirty="0">
                <a:effectLst/>
                <a:latin typeface="Times New Roman" panose="02020603050405020304" pitchFamily="18" charset="0"/>
                <a:ea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rPr>
              <a:t>a</a:t>
            </a:r>
            <a:r>
              <a:rPr lang="en-US" sz="3200" spc="-55" dirty="0">
                <a:effectLst/>
                <a:latin typeface="Times New Roman" panose="02020603050405020304" pitchFamily="18" charset="0"/>
                <a:ea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rPr>
              <a:t>light-weight</a:t>
            </a:r>
            <a:r>
              <a:rPr lang="en-US" sz="3200" spc="-60" dirty="0">
                <a:effectLst/>
                <a:latin typeface="Times New Roman" panose="02020603050405020304" pitchFamily="18" charset="0"/>
                <a:ea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rPr>
              <a:t>DNN</a:t>
            </a:r>
            <a:r>
              <a:rPr lang="en-US" sz="3200" spc="-60" dirty="0">
                <a:effectLst/>
                <a:latin typeface="Times New Roman" panose="02020603050405020304" pitchFamily="18" charset="0"/>
                <a:ea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rPr>
              <a:t>for</a:t>
            </a:r>
            <a:r>
              <a:rPr lang="en-US" sz="3200" spc="-60" dirty="0">
                <a:effectLst/>
                <a:latin typeface="Times New Roman" panose="02020603050405020304" pitchFamily="18" charset="0"/>
                <a:ea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rPr>
              <a:t>handwriting</a:t>
            </a:r>
            <a:r>
              <a:rPr lang="en-US" sz="3200" spc="-60" dirty="0">
                <a:effectLst/>
                <a:latin typeface="Times New Roman" panose="02020603050405020304" pitchFamily="18" charset="0"/>
                <a:ea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rPr>
              <a:t>digital</a:t>
            </a:r>
            <a:r>
              <a:rPr lang="en-US" sz="3200" spc="-55" dirty="0">
                <a:effectLst/>
                <a:latin typeface="Times New Roman" panose="02020603050405020304" pitchFamily="18" charset="0"/>
                <a:ea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rPr>
              <a:t>recognition/ classiﬁcation using the MNIST dataset. The CNN-based backbone architecture and the methodology of numerous hyperparameter optimizations, including batch size, learning rate, etc., are explored in detail to enhance the training and testing outcomes. The developed neural network model is evaluated upon </a:t>
            </a:r>
            <a:r>
              <a:rPr lang="en-US" sz="3200" dirty="0" err="1">
                <a:effectLst/>
                <a:latin typeface="Times New Roman" panose="02020603050405020304" pitchFamily="18" charset="0"/>
                <a:ea typeface="Times New Roman" panose="02020603050405020304" pitchFamily="18" charset="0"/>
              </a:rPr>
              <a:t>Keras</a:t>
            </a:r>
            <a:r>
              <a:rPr lang="en-US" sz="3200" dirty="0">
                <a:effectLst/>
                <a:latin typeface="Times New Roman" panose="02020603050405020304" pitchFamily="18" charset="0"/>
                <a:ea typeface="Times New Roman" panose="02020603050405020304" pitchFamily="18" charset="0"/>
              </a:rPr>
              <a:t>/ </a:t>
            </a:r>
            <a:r>
              <a:rPr lang="en-US" sz="3200" dirty="0" err="1">
                <a:effectLst/>
                <a:latin typeface="Times New Roman" panose="02020603050405020304" pitchFamily="18" charset="0"/>
                <a:ea typeface="Times New Roman" panose="02020603050405020304" pitchFamily="18" charset="0"/>
              </a:rPr>
              <a:t>Tensorﬂow</a:t>
            </a:r>
            <a:r>
              <a:rPr lang="en-US" sz="3200" dirty="0">
                <a:effectLst/>
                <a:latin typeface="Times New Roman" panose="02020603050405020304" pitchFamily="18" charset="0"/>
                <a:ea typeface="Times New Roman" panose="02020603050405020304" pitchFamily="18" charset="0"/>
              </a:rPr>
              <a:t> framework, and the overall accuracy of the developed model can reach 99.4% on the MNIST dataset, compatible with the results from other </a:t>
            </a:r>
            <a:r>
              <a:rPr lang="en-US" sz="3200" i="1" dirty="0">
                <a:effectLst/>
                <a:latin typeface="Times New Roman" panose="02020603050405020304" pitchFamily="18" charset="0"/>
                <a:ea typeface="Times New Roman" panose="02020603050405020304" pitchFamily="18" charset="0"/>
              </a:rPr>
              <a:t>state-of-the-art </a:t>
            </a:r>
            <a:r>
              <a:rPr lang="en-US" sz="3200" dirty="0">
                <a:effectLst/>
                <a:latin typeface="Times New Roman" panose="02020603050405020304" pitchFamily="18" charset="0"/>
                <a:ea typeface="Times New Roman" panose="02020603050405020304" pitchFamily="18" charset="0"/>
              </a:rPr>
              <a:t>models.</a:t>
            </a:r>
            <a:endParaRPr lang="en-IN" sz="3200" dirty="0">
              <a:effectLst/>
              <a:latin typeface="Times New Roman" panose="02020603050405020304" pitchFamily="18" charset="0"/>
              <a:ea typeface="Times New Roman" panose="02020603050405020304" pitchFamily="18" charset="0"/>
            </a:endParaRPr>
          </a:p>
          <a:p>
            <a:pPr marL="500380" marR="225425" indent="-272415" algn="ctr">
              <a:lnSpc>
                <a:spcPct val="103000"/>
              </a:lnSpc>
              <a:spcBef>
                <a:spcPts val="195"/>
              </a:spcBef>
              <a:buNone/>
              <a:tabLst>
                <a:tab pos="497840" algn="l"/>
                <a:tab pos="500380" algn="l"/>
              </a:tabLst>
            </a:pPr>
            <a:r>
              <a:rPr lang="en-US" sz="1400"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0549381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A3B2B-B825-D13E-5285-0FA6764C630F}"/>
              </a:ext>
            </a:extLst>
          </p:cNvPr>
          <p:cNvSpPr>
            <a:spLocks noGrp="1"/>
          </p:cNvSpPr>
          <p:nvPr>
            <p:ph type="title"/>
          </p:nvPr>
        </p:nvSpPr>
        <p:spPr>
          <a:xfrm>
            <a:off x="838200" y="365125"/>
            <a:ext cx="10515600" cy="6492875"/>
          </a:xfrm>
        </p:spPr>
        <p:txBody>
          <a:bodyPr/>
          <a:lstStyle/>
          <a:p>
            <a:pPr algn="ctr"/>
            <a:r>
              <a:rPr lang="en-IN" dirty="0"/>
              <a:t>THANK YOU!!!</a:t>
            </a:r>
          </a:p>
        </p:txBody>
      </p:sp>
    </p:spTree>
    <p:extLst>
      <p:ext uri="{BB962C8B-B14F-4D97-AF65-F5344CB8AC3E}">
        <p14:creationId xmlns:p14="http://schemas.microsoft.com/office/powerpoint/2010/main" val="35095944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TotalTime>
  <Words>1083</Words>
  <Application>Microsoft Office PowerPoint</Application>
  <PresentationFormat>Widescreen</PresentationFormat>
  <Paragraphs>39</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Times New Roman</vt:lpstr>
      <vt:lpstr>Office Theme</vt:lpstr>
      <vt:lpstr>MNIST Handwritten Digit Classification Using Neural Network Abstract </vt:lpstr>
      <vt:lpstr>Abstract </vt:lpstr>
      <vt:lpstr>PowerPoint Presentation</vt:lpstr>
      <vt:lpstr>Introduction</vt:lpstr>
      <vt:lpstr> Traditional image processing algorithms focusing on static feature analysis at pixel level meet tremendous difﬁculties in MNIST handwriting recognition due to the two primary causes:</vt:lpstr>
      <vt:lpstr>PowerPoint Presentation</vt:lpstr>
      <vt:lpstr>Model Hyperparameter Optimization Strategy </vt:lpstr>
      <vt:lpstr>Batch Size Analysis and Selection Method </vt:lpstr>
      <vt:lpstr>Model Validation and Evaluation </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ankita morghade</dc:creator>
  <cp:lastModifiedBy>ankita morghade</cp:lastModifiedBy>
  <cp:revision>1</cp:revision>
  <dcterms:created xsi:type="dcterms:W3CDTF">2026-10-28T22:33:05Z</dcterms:created>
  <dcterms:modified xsi:type="dcterms:W3CDTF">2026-10-28T22:58:19Z</dcterms:modified>
</cp:coreProperties>
</file>