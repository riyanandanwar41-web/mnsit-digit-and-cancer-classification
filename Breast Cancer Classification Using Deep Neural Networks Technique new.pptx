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4332D-2BEE-7B84-4DAB-497A00ABEF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043547-6232-A795-3226-B29848321D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1DF4ACF-C29F-4CB3-BF6B-C8E7884BE619}"/>
              </a:ext>
            </a:extLst>
          </p:cNvPr>
          <p:cNvSpPr>
            <a:spLocks noGrp="1"/>
          </p:cNvSpPr>
          <p:nvPr>
            <p:ph type="dt" sz="half" idx="10"/>
          </p:nvPr>
        </p:nvSpPr>
        <p:spPr/>
        <p:txBody>
          <a:bodyPr/>
          <a:lstStyle/>
          <a:p>
            <a:fld id="{70468B92-F5D4-4946-BE35-FA1C8AAFA62B}" type="datetimeFigureOut">
              <a:rPr lang="en-IN" smtClean="0"/>
              <a:t>29-10-2026</a:t>
            </a:fld>
            <a:endParaRPr lang="en-IN"/>
          </a:p>
        </p:txBody>
      </p:sp>
      <p:sp>
        <p:nvSpPr>
          <p:cNvPr id="5" name="Footer Placeholder 4">
            <a:extLst>
              <a:ext uri="{FF2B5EF4-FFF2-40B4-BE49-F238E27FC236}">
                <a16:creationId xmlns:a16="http://schemas.microsoft.com/office/drawing/2014/main" id="{DC2C63A0-50B1-4E6C-9944-26428310F2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B5A063-7291-1567-4E00-5908B170A407}"/>
              </a:ext>
            </a:extLst>
          </p:cNvPr>
          <p:cNvSpPr>
            <a:spLocks noGrp="1"/>
          </p:cNvSpPr>
          <p:nvPr>
            <p:ph type="sldNum" sz="quarter" idx="12"/>
          </p:nvPr>
        </p:nvSpPr>
        <p:spPr/>
        <p:txBody>
          <a:bodyPr/>
          <a:lstStyle/>
          <a:p>
            <a:fld id="{BAB3EDB9-B1EA-4CDD-BE63-0C0FDFF28E28}" type="slidenum">
              <a:rPr lang="en-IN" smtClean="0"/>
              <a:t>‹#›</a:t>
            </a:fld>
            <a:endParaRPr lang="en-IN"/>
          </a:p>
        </p:txBody>
      </p:sp>
    </p:spTree>
    <p:extLst>
      <p:ext uri="{BB962C8B-B14F-4D97-AF65-F5344CB8AC3E}">
        <p14:creationId xmlns:p14="http://schemas.microsoft.com/office/powerpoint/2010/main" val="4252210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D235D-12E6-3D96-B3EC-5860B409A6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A75951-C05B-D15E-18F8-B262BC69DE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DABAB5-3453-B518-CD40-FDBA0A84B2EE}"/>
              </a:ext>
            </a:extLst>
          </p:cNvPr>
          <p:cNvSpPr>
            <a:spLocks noGrp="1"/>
          </p:cNvSpPr>
          <p:nvPr>
            <p:ph type="dt" sz="half" idx="10"/>
          </p:nvPr>
        </p:nvSpPr>
        <p:spPr/>
        <p:txBody>
          <a:bodyPr/>
          <a:lstStyle/>
          <a:p>
            <a:fld id="{70468B92-F5D4-4946-BE35-FA1C8AAFA62B}" type="datetimeFigureOut">
              <a:rPr lang="en-IN" smtClean="0"/>
              <a:t>29-10-2026</a:t>
            </a:fld>
            <a:endParaRPr lang="en-IN"/>
          </a:p>
        </p:txBody>
      </p:sp>
      <p:sp>
        <p:nvSpPr>
          <p:cNvPr id="5" name="Footer Placeholder 4">
            <a:extLst>
              <a:ext uri="{FF2B5EF4-FFF2-40B4-BE49-F238E27FC236}">
                <a16:creationId xmlns:a16="http://schemas.microsoft.com/office/drawing/2014/main" id="{FE65B978-3D8D-DAF9-9B5D-13679B5FE8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97A56D-FCAE-401B-2651-3469A96C73AB}"/>
              </a:ext>
            </a:extLst>
          </p:cNvPr>
          <p:cNvSpPr>
            <a:spLocks noGrp="1"/>
          </p:cNvSpPr>
          <p:nvPr>
            <p:ph type="sldNum" sz="quarter" idx="12"/>
          </p:nvPr>
        </p:nvSpPr>
        <p:spPr/>
        <p:txBody>
          <a:bodyPr/>
          <a:lstStyle/>
          <a:p>
            <a:fld id="{BAB3EDB9-B1EA-4CDD-BE63-0C0FDFF28E28}" type="slidenum">
              <a:rPr lang="en-IN" smtClean="0"/>
              <a:t>‹#›</a:t>
            </a:fld>
            <a:endParaRPr lang="en-IN"/>
          </a:p>
        </p:txBody>
      </p:sp>
    </p:spTree>
    <p:extLst>
      <p:ext uri="{BB962C8B-B14F-4D97-AF65-F5344CB8AC3E}">
        <p14:creationId xmlns:p14="http://schemas.microsoft.com/office/powerpoint/2010/main" val="3336389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D2CC6-106C-43E5-A553-F306C57B3B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562485-994D-F902-8326-7DA7907BB2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DDE6A5-C189-B3F2-B4AC-470279E17333}"/>
              </a:ext>
            </a:extLst>
          </p:cNvPr>
          <p:cNvSpPr>
            <a:spLocks noGrp="1"/>
          </p:cNvSpPr>
          <p:nvPr>
            <p:ph type="dt" sz="half" idx="10"/>
          </p:nvPr>
        </p:nvSpPr>
        <p:spPr/>
        <p:txBody>
          <a:bodyPr/>
          <a:lstStyle/>
          <a:p>
            <a:fld id="{70468B92-F5D4-4946-BE35-FA1C8AAFA62B}" type="datetimeFigureOut">
              <a:rPr lang="en-IN" smtClean="0"/>
              <a:t>29-10-2026</a:t>
            </a:fld>
            <a:endParaRPr lang="en-IN"/>
          </a:p>
        </p:txBody>
      </p:sp>
      <p:sp>
        <p:nvSpPr>
          <p:cNvPr id="5" name="Footer Placeholder 4">
            <a:extLst>
              <a:ext uri="{FF2B5EF4-FFF2-40B4-BE49-F238E27FC236}">
                <a16:creationId xmlns:a16="http://schemas.microsoft.com/office/drawing/2014/main" id="{2A869A13-C2FD-7978-1176-CB127334D2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02A13C-12D3-F62C-4E85-D30C923AAAEE}"/>
              </a:ext>
            </a:extLst>
          </p:cNvPr>
          <p:cNvSpPr>
            <a:spLocks noGrp="1"/>
          </p:cNvSpPr>
          <p:nvPr>
            <p:ph type="sldNum" sz="quarter" idx="12"/>
          </p:nvPr>
        </p:nvSpPr>
        <p:spPr/>
        <p:txBody>
          <a:bodyPr/>
          <a:lstStyle/>
          <a:p>
            <a:fld id="{BAB3EDB9-B1EA-4CDD-BE63-0C0FDFF28E28}" type="slidenum">
              <a:rPr lang="en-IN" smtClean="0"/>
              <a:t>‹#›</a:t>
            </a:fld>
            <a:endParaRPr lang="en-IN"/>
          </a:p>
        </p:txBody>
      </p:sp>
    </p:spTree>
    <p:extLst>
      <p:ext uri="{BB962C8B-B14F-4D97-AF65-F5344CB8AC3E}">
        <p14:creationId xmlns:p14="http://schemas.microsoft.com/office/powerpoint/2010/main" val="1677739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96B63-49CD-143E-7563-8146E0AD6C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2F54F7-57C0-3336-A8A5-6244282F58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5C5F138-4080-202D-A68C-B977A2AA19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5625D14-68BE-6679-ECBD-4A72697FE73D}"/>
              </a:ext>
            </a:extLst>
          </p:cNvPr>
          <p:cNvSpPr>
            <a:spLocks noGrp="1"/>
          </p:cNvSpPr>
          <p:nvPr>
            <p:ph type="dt" sz="half" idx="10"/>
          </p:nvPr>
        </p:nvSpPr>
        <p:spPr/>
        <p:txBody>
          <a:bodyPr/>
          <a:lstStyle/>
          <a:p>
            <a:fld id="{70468B92-F5D4-4946-BE35-FA1C8AAFA62B}" type="datetimeFigureOut">
              <a:rPr lang="en-IN" smtClean="0"/>
              <a:t>29-10-2026</a:t>
            </a:fld>
            <a:endParaRPr lang="en-IN"/>
          </a:p>
        </p:txBody>
      </p:sp>
      <p:sp>
        <p:nvSpPr>
          <p:cNvPr id="6" name="Footer Placeholder 5">
            <a:extLst>
              <a:ext uri="{FF2B5EF4-FFF2-40B4-BE49-F238E27FC236}">
                <a16:creationId xmlns:a16="http://schemas.microsoft.com/office/drawing/2014/main" id="{9B6B5C24-46FA-6CDC-3904-A3BB81AE1C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597207-EDBE-0FD1-C6AC-02DFF0E6E50D}"/>
              </a:ext>
            </a:extLst>
          </p:cNvPr>
          <p:cNvSpPr>
            <a:spLocks noGrp="1"/>
          </p:cNvSpPr>
          <p:nvPr>
            <p:ph type="sldNum" sz="quarter" idx="12"/>
          </p:nvPr>
        </p:nvSpPr>
        <p:spPr/>
        <p:txBody>
          <a:bodyPr/>
          <a:lstStyle/>
          <a:p>
            <a:fld id="{BAB3EDB9-B1EA-4CDD-BE63-0C0FDFF28E28}" type="slidenum">
              <a:rPr lang="en-IN" smtClean="0"/>
              <a:t>‹#›</a:t>
            </a:fld>
            <a:endParaRPr lang="en-IN"/>
          </a:p>
        </p:txBody>
      </p:sp>
    </p:spTree>
    <p:extLst>
      <p:ext uri="{BB962C8B-B14F-4D97-AF65-F5344CB8AC3E}">
        <p14:creationId xmlns:p14="http://schemas.microsoft.com/office/powerpoint/2010/main" val="3362434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A5723-1138-4A82-4E7F-851FF13C5EE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2B2AD9-339E-B2CB-1AB7-C1B925E607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529E13-731B-825B-2D33-6695CFEB2E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CDB4AB1-CA5F-464B-D059-0349B34935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E4BEAF-F29F-28ED-D94C-255B26ADC3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9A1A1D7-CC72-6020-6FA5-6D34105F45E2}"/>
              </a:ext>
            </a:extLst>
          </p:cNvPr>
          <p:cNvSpPr>
            <a:spLocks noGrp="1"/>
          </p:cNvSpPr>
          <p:nvPr>
            <p:ph type="dt" sz="half" idx="10"/>
          </p:nvPr>
        </p:nvSpPr>
        <p:spPr/>
        <p:txBody>
          <a:bodyPr/>
          <a:lstStyle/>
          <a:p>
            <a:fld id="{70468B92-F5D4-4946-BE35-FA1C8AAFA62B}" type="datetimeFigureOut">
              <a:rPr lang="en-IN" smtClean="0"/>
              <a:t>29-10-2026</a:t>
            </a:fld>
            <a:endParaRPr lang="en-IN"/>
          </a:p>
        </p:txBody>
      </p:sp>
      <p:sp>
        <p:nvSpPr>
          <p:cNvPr id="8" name="Footer Placeholder 7">
            <a:extLst>
              <a:ext uri="{FF2B5EF4-FFF2-40B4-BE49-F238E27FC236}">
                <a16:creationId xmlns:a16="http://schemas.microsoft.com/office/drawing/2014/main" id="{A558BFEA-DF54-14AC-018A-899B2568FA2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FB0BAD-98BA-0F1E-E058-3ABBC1265858}"/>
              </a:ext>
            </a:extLst>
          </p:cNvPr>
          <p:cNvSpPr>
            <a:spLocks noGrp="1"/>
          </p:cNvSpPr>
          <p:nvPr>
            <p:ph type="sldNum" sz="quarter" idx="12"/>
          </p:nvPr>
        </p:nvSpPr>
        <p:spPr/>
        <p:txBody>
          <a:bodyPr/>
          <a:lstStyle/>
          <a:p>
            <a:fld id="{BAB3EDB9-B1EA-4CDD-BE63-0C0FDFF28E28}" type="slidenum">
              <a:rPr lang="en-IN" smtClean="0"/>
              <a:t>‹#›</a:t>
            </a:fld>
            <a:endParaRPr lang="en-IN"/>
          </a:p>
        </p:txBody>
      </p:sp>
    </p:spTree>
    <p:extLst>
      <p:ext uri="{BB962C8B-B14F-4D97-AF65-F5344CB8AC3E}">
        <p14:creationId xmlns:p14="http://schemas.microsoft.com/office/powerpoint/2010/main" val="1485000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B0718-613A-FF06-2C27-125A274E8FD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1ADB8D2-76AE-DC7A-78E9-467A02703666}"/>
              </a:ext>
            </a:extLst>
          </p:cNvPr>
          <p:cNvSpPr>
            <a:spLocks noGrp="1"/>
          </p:cNvSpPr>
          <p:nvPr>
            <p:ph type="dt" sz="half" idx="10"/>
          </p:nvPr>
        </p:nvSpPr>
        <p:spPr/>
        <p:txBody>
          <a:bodyPr/>
          <a:lstStyle/>
          <a:p>
            <a:fld id="{70468B92-F5D4-4946-BE35-FA1C8AAFA62B}" type="datetimeFigureOut">
              <a:rPr lang="en-IN" smtClean="0"/>
              <a:t>29-10-2026</a:t>
            </a:fld>
            <a:endParaRPr lang="en-IN"/>
          </a:p>
        </p:txBody>
      </p:sp>
      <p:sp>
        <p:nvSpPr>
          <p:cNvPr id="4" name="Footer Placeholder 3">
            <a:extLst>
              <a:ext uri="{FF2B5EF4-FFF2-40B4-BE49-F238E27FC236}">
                <a16:creationId xmlns:a16="http://schemas.microsoft.com/office/drawing/2014/main" id="{422B5D3E-4E4F-3B5F-5F4A-B62E78A837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C0259DE-8459-D220-C634-5200AD2CC1EB}"/>
              </a:ext>
            </a:extLst>
          </p:cNvPr>
          <p:cNvSpPr>
            <a:spLocks noGrp="1"/>
          </p:cNvSpPr>
          <p:nvPr>
            <p:ph type="sldNum" sz="quarter" idx="12"/>
          </p:nvPr>
        </p:nvSpPr>
        <p:spPr/>
        <p:txBody>
          <a:bodyPr/>
          <a:lstStyle/>
          <a:p>
            <a:fld id="{BAB3EDB9-B1EA-4CDD-BE63-0C0FDFF28E28}" type="slidenum">
              <a:rPr lang="en-IN" smtClean="0"/>
              <a:t>‹#›</a:t>
            </a:fld>
            <a:endParaRPr lang="en-IN"/>
          </a:p>
        </p:txBody>
      </p:sp>
    </p:spTree>
    <p:extLst>
      <p:ext uri="{BB962C8B-B14F-4D97-AF65-F5344CB8AC3E}">
        <p14:creationId xmlns:p14="http://schemas.microsoft.com/office/powerpoint/2010/main" val="287508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28897D-2C1C-F31B-7626-36F834EB1BD1}"/>
              </a:ext>
            </a:extLst>
          </p:cNvPr>
          <p:cNvSpPr>
            <a:spLocks noGrp="1"/>
          </p:cNvSpPr>
          <p:nvPr>
            <p:ph type="dt" sz="half" idx="10"/>
          </p:nvPr>
        </p:nvSpPr>
        <p:spPr/>
        <p:txBody>
          <a:bodyPr/>
          <a:lstStyle/>
          <a:p>
            <a:fld id="{70468B92-F5D4-4946-BE35-FA1C8AAFA62B}" type="datetimeFigureOut">
              <a:rPr lang="en-IN" smtClean="0"/>
              <a:t>29-10-2026</a:t>
            </a:fld>
            <a:endParaRPr lang="en-IN"/>
          </a:p>
        </p:txBody>
      </p:sp>
      <p:sp>
        <p:nvSpPr>
          <p:cNvPr id="3" name="Footer Placeholder 2">
            <a:extLst>
              <a:ext uri="{FF2B5EF4-FFF2-40B4-BE49-F238E27FC236}">
                <a16:creationId xmlns:a16="http://schemas.microsoft.com/office/drawing/2014/main" id="{3853885B-F196-7D03-F4BD-61CF96399A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8E9AA04-CECA-9179-3C0B-51BC014BC5D1}"/>
              </a:ext>
            </a:extLst>
          </p:cNvPr>
          <p:cNvSpPr>
            <a:spLocks noGrp="1"/>
          </p:cNvSpPr>
          <p:nvPr>
            <p:ph type="sldNum" sz="quarter" idx="12"/>
          </p:nvPr>
        </p:nvSpPr>
        <p:spPr/>
        <p:txBody>
          <a:bodyPr/>
          <a:lstStyle/>
          <a:p>
            <a:fld id="{BAB3EDB9-B1EA-4CDD-BE63-0C0FDFF28E28}" type="slidenum">
              <a:rPr lang="en-IN" smtClean="0"/>
              <a:t>‹#›</a:t>
            </a:fld>
            <a:endParaRPr lang="en-IN"/>
          </a:p>
        </p:txBody>
      </p:sp>
    </p:spTree>
    <p:extLst>
      <p:ext uri="{BB962C8B-B14F-4D97-AF65-F5344CB8AC3E}">
        <p14:creationId xmlns:p14="http://schemas.microsoft.com/office/powerpoint/2010/main" val="2505098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474E4-009E-796F-D11C-43DCAC0EB1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8B35437-A578-745D-260A-97DF3448EC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0EF702-F398-4589-12C6-1C7B6D238B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5B9CF8-D174-A313-7F2A-364D33DBC2FA}"/>
              </a:ext>
            </a:extLst>
          </p:cNvPr>
          <p:cNvSpPr>
            <a:spLocks noGrp="1"/>
          </p:cNvSpPr>
          <p:nvPr>
            <p:ph type="dt" sz="half" idx="10"/>
          </p:nvPr>
        </p:nvSpPr>
        <p:spPr/>
        <p:txBody>
          <a:bodyPr/>
          <a:lstStyle/>
          <a:p>
            <a:fld id="{70468B92-F5D4-4946-BE35-FA1C8AAFA62B}" type="datetimeFigureOut">
              <a:rPr lang="en-IN" smtClean="0"/>
              <a:t>29-10-2026</a:t>
            </a:fld>
            <a:endParaRPr lang="en-IN"/>
          </a:p>
        </p:txBody>
      </p:sp>
      <p:sp>
        <p:nvSpPr>
          <p:cNvPr id="6" name="Footer Placeholder 5">
            <a:extLst>
              <a:ext uri="{FF2B5EF4-FFF2-40B4-BE49-F238E27FC236}">
                <a16:creationId xmlns:a16="http://schemas.microsoft.com/office/drawing/2014/main" id="{11FAEE9E-9D0D-89C8-4C6D-F1D9FD708A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3AA0F1-BA2D-0FAF-4846-411CB404D402}"/>
              </a:ext>
            </a:extLst>
          </p:cNvPr>
          <p:cNvSpPr>
            <a:spLocks noGrp="1"/>
          </p:cNvSpPr>
          <p:nvPr>
            <p:ph type="sldNum" sz="quarter" idx="12"/>
          </p:nvPr>
        </p:nvSpPr>
        <p:spPr/>
        <p:txBody>
          <a:bodyPr/>
          <a:lstStyle/>
          <a:p>
            <a:fld id="{BAB3EDB9-B1EA-4CDD-BE63-0C0FDFF28E28}" type="slidenum">
              <a:rPr lang="en-IN" smtClean="0"/>
              <a:t>‹#›</a:t>
            </a:fld>
            <a:endParaRPr lang="en-IN"/>
          </a:p>
        </p:txBody>
      </p:sp>
    </p:spTree>
    <p:extLst>
      <p:ext uri="{BB962C8B-B14F-4D97-AF65-F5344CB8AC3E}">
        <p14:creationId xmlns:p14="http://schemas.microsoft.com/office/powerpoint/2010/main" val="3126258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2C36E-49EA-9617-0796-54EBD414C7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7A9D41-28B7-D576-B2C4-B062CCD374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B73DE42-1126-D4CA-3890-DB9F283602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EBCAE9-2FD3-AC88-A561-8AECDD358DD8}"/>
              </a:ext>
            </a:extLst>
          </p:cNvPr>
          <p:cNvSpPr>
            <a:spLocks noGrp="1"/>
          </p:cNvSpPr>
          <p:nvPr>
            <p:ph type="dt" sz="half" idx="10"/>
          </p:nvPr>
        </p:nvSpPr>
        <p:spPr/>
        <p:txBody>
          <a:bodyPr/>
          <a:lstStyle/>
          <a:p>
            <a:fld id="{70468B92-F5D4-4946-BE35-FA1C8AAFA62B}" type="datetimeFigureOut">
              <a:rPr lang="en-IN" smtClean="0"/>
              <a:t>29-10-2026</a:t>
            </a:fld>
            <a:endParaRPr lang="en-IN"/>
          </a:p>
        </p:txBody>
      </p:sp>
      <p:sp>
        <p:nvSpPr>
          <p:cNvPr id="6" name="Footer Placeholder 5">
            <a:extLst>
              <a:ext uri="{FF2B5EF4-FFF2-40B4-BE49-F238E27FC236}">
                <a16:creationId xmlns:a16="http://schemas.microsoft.com/office/drawing/2014/main" id="{5CE12368-018D-BA77-7993-FD1694F73E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EF2801-9C8D-F17E-0DA9-5B6E66AA5676}"/>
              </a:ext>
            </a:extLst>
          </p:cNvPr>
          <p:cNvSpPr>
            <a:spLocks noGrp="1"/>
          </p:cNvSpPr>
          <p:nvPr>
            <p:ph type="sldNum" sz="quarter" idx="12"/>
          </p:nvPr>
        </p:nvSpPr>
        <p:spPr/>
        <p:txBody>
          <a:bodyPr/>
          <a:lstStyle/>
          <a:p>
            <a:fld id="{BAB3EDB9-B1EA-4CDD-BE63-0C0FDFF28E28}" type="slidenum">
              <a:rPr lang="en-IN" smtClean="0"/>
              <a:t>‹#›</a:t>
            </a:fld>
            <a:endParaRPr lang="en-IN"/>
          </a:p>
        </p:txBody>
      </p:sp>
    </p:spTree>
    <p:extLst>
      <p:ext uri="{BB962C8B-B14F-4D97-AF65-F5344CB8AC3E}">
        <p14:creationId xmlns:p14="http://schemas.microsoft.com/office/powerpoint/2010/main" val="3180831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8FE87-F180-FC54-A014-7210338C6A3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81FD00-FED3-2939-085E-41F26F5A4E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315EAB-7451-A371-DCFF-B16E44148EAE}"/>
              </a:ext>
            </a:extLst>
          </p:cNvPr>
          <p:cNvSpPr>
            <a:spLocks noGrp="1"/>
          </p:cNvSpPr>
          <p:nvPr>
            <p:ph type="dt" sz="half" idx="10"/>
          </p:nvPr>
        </p:nvSpPr>
        <p:spPr/>
        <p:txBody>
          <a:bodyPr/>
          <a:lstStyle/>
          <a:p>
            <a:fld id="{70468B92-F5D4-4946-BE35-FA1C8AAFA62B}" type="datetimeFigureOut">
              <a:rPr lang="en-IN" smtClean="0"/>
              <a:t>29-10-2026</a:t>
            </a:fld>
            <a:endParaRPr lang="en-IN"/>
          </a:p>
        </p:txBody>
      </p:sp>
      <p:sp>
        <p:nvSpPr>
          <p:cNvPr id="5" name="Footer Placeholder 4">
            <a:extLst>
              <a:ext uri="{FF2B5EF4-FFF2-40B4-BE49-F238E27FC236}">
                <a16:creationId xmlns:a16="http://schemas.microsoft.com/office/drawing/2014/main" id="{07580164-AD38-77E3-25DC-00165FA0D0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88EC4D-BD11-6103-A1B8-57EDFF4AA5DA}"/>
              </a:ext>
            </a:extLst>
          </p:cNvPr>
          <p:cNvSpPr>
            <a:spLocks noGrp="1"/>
          </p:cNvSpPr>
          <p:nvPr>
            <p:ph type="sldNum" sz="quarter" idx="12"/>
          </p:nvPr>
        </p:nvSpPr>
        <p:spPr/>
        <p:txBody>
          <a:bodyPr/>
          <a:lstStyle/>
          <a:p>
            <a:fld id="{BAB3EDB9-B1EA-4CDD-BE63-0C0FDFF28E28}" type="slidenum">
              <a:rPr lang="en-IN" smtClean="0"/>
              <a:t>‹#›</a:t>
            </a:fld>
            <a:endParaRPr lang="en-IN"/>
          </a:p>
        </p:txBody>
      </p:sp>
    </p:spTree>
    <p:extLst>
      <p:ext uri="{BB962C8B-B14F-4D97-AF65-F5344CB8AC3E}">
        <p14:creationId xmlns:p14="http://schemas.microsoft.com/office/powerpoint/2010/main" val="371539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4AB3FC-6B37-22F3-FD82-6669271FD1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92588F-1638-2704-0C27-08006701CB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7CFA52-02AC-A25A-02AE-216C44D3AEBA}"/>
              </a:ext>
            </a:extLst>
          </p:cNvPr>
          <p:cNvSpPr>
            <a:spLocks noGrp="1"/>
          </p:cNvSpPr>
          <p:nvPr>
            <p:ph type="dt" sz="half" idx="10"/>
          </p:nvPr>
        </p:nvSpPr>
        <p:spPr/>
        <p:txBody>
          <a:bodyPr/>
          <a:lstStyle/>
          <a:p>
            <a:fld id="{70468B92-F5D4-4946-BE35-FA1C8AAFA62B}" type="datetimeFigureOut">
              <a:rPr lang="en-IN" smtClean="0"/>
              <a:t>29-10-2026</a:t>
            </a:fld>
            <a:endParaRPr lang="en-IN"/>
          </a:p>
        </p:txBody>
      </p:sp>
      <p:sp>
        <p:nvSpPr>
          <p:cNvPr id="5" name="Footer Placeholder 4">
            <a:extLst>
              <a:ext uri="{FF2B5EF4-FFF2-40B4-BE49-F238E27FC236}">
                <a16:creationId xmlns:a16="http://schemas.microsoft.com/office/drawing/2014/main" id="{9B8D77AB-6E5B-EF51-2328-61303C221B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471D90-D19C-B126-B81B-B9F81757D326}"/>
              </a:ext>
            </a:extLst>
          </p:cNvPr>
          <p:cNvSpPr>
            <a:spLocks noGrp="1"/>
          </p:cNvSpPr>
          <p:nvPr>
            <p:ph type="sldNum" sz="quarter" idx="12"/>
          </p:nvPr>
        </p:nvSpPr>
        <p:spPr/>
        <p:txBody>
          <a:bodyPr/>
          <a:lstStyle/>
          <a:p>
            <a:fld id="{BAB3EDB9-B1EA-4CDD-BE63-0C0FDFF28E28}" type="slidenum">
              <a:rPr lang="en-IN" smtClean="0"/>
              <a:t>‹#›</a:t>
            </a:fld>
            <a:endParaRPr lang="en-IN"/>
          </a:p>
        </p:txBody>
      </p:sp>
    </p:spTree>
    <p:extLst>
      <p:ext uri="{BB962C8B-B14F-4D97-AF65-F5344CB8AC3E}">
        <p14:creationId xmlns:p14="http://schemas.microsoft.com/office/powerpoint/2010/main" val="648164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712555-B82F-07DB-62AF-AEDC195E8C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459465-AB0A-2316-959D-ACB95F760E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52A634-BE7B-8112-117B-BFB91F5B4F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468B92-F5D4-4946-BE35-FA1C8AAFA62B}" type="datetimeFigureOut">
              <a:rPr lang="en-IN" smtClean="0"/>
              <a:t>29-10-2026</a:t>
            </a:fld>
            <a:endParaRPr lang="en-IN"/>
          </a:p>
        </p:txBody>
      </p:sp>
      <p:sp>
        <p:nvSpPr>
          <p:cNvPr id="5" name="Footer Placeholder 4">
            <a:extLst>
              <a:ext uri="{FF2B5EF4-FFF2-40B4-BE49-F238E27FC236}">
                <a16:creationId xmlns:a16="http://schemas.microsoft.com/office/drawing/2014/main" id="{049DAA50-12E7-5EE2-E436-8C70B6C881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DF01A7C-8FD1-F9FD-A49E-BE22C5EA5B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B3EDB9-B1EA-4CDD-BE63-0C0FDFF28E28}" type="slidenum">
              <a:rPr lang="en-IN" smtClean="0"/>
              <a:t>‹#›</a:t>
            </a:fld>
            <a:endParaRPr lang="en-IN"/>
          </a:p>
        </p:txBody>
      </p:sp>
    </p:spTree>
    <p:extLst>
      <p:ext uri="{BB962C8B-B14F-4D97-AF65-F5344CB8AC3E}">
        <p14:creationId xmlns:p14="http://schemas.microsoft.com/office/powerpoint/2010/main" val="35586472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9C5E0-4813-CB33-CC6C-0F6A27884090}"/>
              </a:ext>
            </a:extLst>
          </p:cNvPr>
          <p:cNvSpPr>
            <a:spLocks noGrp="1"/>
          </p:cNvSpPr>
          <p:nvPr>
            <p:ph type="ctrTitle"/>
          </p:nvPr>
        </p:nvSpPr>
        <p:spPr/>
        <p:txBody>
          <a:bodyPr>
            <a:normAutofit fontScale="90000"/>
          </a:bodyPr>
          <a:lstStyle/>
          <a:p>
            <a:r>
              <a:rPr lang="en-US" b="1" dirty="0"/>
              <a:t>Breast Cancer Classification Using Deep Neural Networks Technique</a:t>
            </a:r>
            <a:br>
              <a:rPr lang="en-IN" b="1" dirty="0"/>
            </a:br>
            <a:endParaRPr lang="en-IN" dirty="0"/>
          </a:p>
        </p:txBody>
      </p:sp>
      <p:sp>
        <p:nvSpPr>
          <p:cNvPr id="3" name="Subtitle 2">
            <a:extLst>
              <a:ext uri="{FF2B5EF4-FFF2-40B4-BE49-F238E27FC236}">
                <a16:creationId xmlns:a16="http://schemas.microsoft.com/office/drawing/2014/main" id="{0FEEC464-5C34-D741-B722-F7C0EE63EB3D}"/>
              </a:ext>
            </a:extLst>
          </p:cNvPr>
          <p:cNvSpPr>
            <a:spLocks noGrp="1"/>
          </p:cNvSpPr>
          <p:nvPr>
            <p:ph type="subTitle" idx="1"/>
          </p:nvPr>
        </p:nvSpPr>
        <p:spPr/>
        <p:txBody>
          <a:bodyPr>
            <a:normAutofit/>
          </a:bodyPr>
          <a:lstStyle/>
          <a:p>
            <a:r>
              <a:rPr lang="en-IN" sz="4000" dirty="0"/>
              <a:t>Submitted by:</a:t>
            </a:r>
          </a:p>
          <a:p>
            <a:r>
              <a:rPr lang="en-IN" sz="4000" dirty="0"/>
              <a:t>RIYA .C. NANDANWAR</a:t>
            </a:r>
          </a:p>
        </p:txBody>
      </p:sp>
    </p:spTree>
    <p:extLst>
      <p:ext uri="{BB962C8B-B14F-4D97-AF65-F5344CB8AC3E}">
        <p14:creationId xmlns:p14="http://schemas.microsoft.com/office/powerpoint/2010/main" val="2977614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F19ED-F109-95FD-3128-034AF1F5CAB4}"/>
              </a:ext>
            </a:extLst>
          </p:cNvPr>
          <p:cNvSpPr>
            <a:spLocks noGrp="1"/>
          </p:cNvSpPr>
          <p:nvPr>
            <p:ph type="title"/>
          </p:nvPr>
        </p:nvSpPr>
        <p:spPr>
          <a:xfrm>
            <a:off x="838200" y="365125"/>
            <a:ext cx="10515600" cy="2508704"/>
          </a:xfrm>
        </p:spPr>
        <p:txBody>
          <a:bodyPr>
            <a:normAutofit/>
          </a:bodyPr>
          <a:lstStyle/>
          <a:p>
            <a:r>
              <a:rPr lang="en-US" b="1" dirty="0"/>
              <a:t>Abstract</a:t>
            </a:r>
            <a:br>
              <a:rPr lang="en-IN" dirty="0"/>
            </a:br>
            <a:endParaRPr lang="en-IN" dirty="0"/>
          </a:p>
        </p:txBody>
      </p:sp>
      <p:sp>
        <p:nvSpPr>
          <p:cNvPr id="3" name="Content Placeholder 2">
            <a:extLst>
              <a:ext uri="{FF2B5EF4-FFF2-40B4-BE49-F238E27FC236}">
                <a16:creationId xmlns:a16="http://schemas.microsoft.com/office/drawing/2014/main" id="{5AC48046-DA27-EDED-95A3-51BEA4516F0F}"/>
              </a:ext>
            </a:extLst>
          </p:cNvPr>
          <p:cNvSpPr>
            <a:spLocks noGrp="1"/>
          </p:cNvSpPr>
          <p:nvPr>
            <p:ph idx="1"/>
          </p:nvPr>
        </p:nvSpPr>
        <p:spPr/>
        <p:txBody>
          <a:bodyPr>
            <a:normAutofit/>
          </a:bodyPr>
          <a:lstStyle/>
          <a:p>
            <a:pPr marL="0" indent="0">
              <a:buNone/>
            </a:pPr>
            <a:r>
              <a:rPr lang="en-US" sz="2400" dirty="0"/>
              <a:t>Breast cancer is one of the important reasons for the demise of women globally. Precise and initial recognition of breast cancer can confirm lasting survival for the patients. Deep neural network-based techniques can assist pathologists and doctors in precisely detecting abnormalities. The efficacy of our proposed artificial deep neural network A-DNN model is tested on Breast Cancer data sets (Wisconsin Diagnostic-WDBC), and the outcomes demonstrate that the A-DNN model outstrips other evaluation approaches. The key objective of this research work was to apply a proposed approach in an actual medical investigative system and thus assist medical doctors in making exact and actual decisions in the future. </a:t>
            </a:r>
            <a:endParaRPr lang="en-IN" sz="2400" dirty="0"/>
          </a:p>
        </p:txBody>
      </p:sp>
    </p:spTree>
    <p:extLst>
      <p:ext uri="{BB962C8B-B14F-4D97-AF65-F5344CB8AC3E}">
        <p14:creationId xmlns:p14="http://schemas.microsoft.com/office/powerpoint/2010/main" val="1031047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C8BA69-E629-2E4F-C242-A76CBBDF4C3B}"/>
              </a:ext>
            </a:extLst>
          </p:cNvPr>
          <p:cNvSpPr txBox="1"/>
          <p:nvPr/>
        </p:nvSpPr>
        <p:spPr>
          <a:xfrm>
            <a:off x="440871" y="936172"/>
            <a:ext cx="11310257" cy="1854610"/>
          </a:xfrm>
          <a:prstGeom prst="rect">
            <a:avLst/>
          </a:prstGeom>
          <a:noFill/>
        </p:spPr>
        <p:txBody>
          <a:bodyPr wrap="square">
            <a:spAutoFit/>
          </a:bodyPr>
          <a:lstStyle/>
          <a:p>
            <a:pPr marL="205105">
              <a:buNone/>
            </a:pPr>
            <a:r>
              <a:rPr lang="en-US" sz="2800" dirty="0">
                <a:effectLst/>
                <a:latin typeface="Times New Roman" panose="02020603050405020304" pitchFamily="18" charset="0"/>
                <a:ea typeface="Times New Roman" panose="02020603050405020304" pitchFamily="18" charset="0"/>
              </a:rPr>
              <a:t>The</a:t>
            </a:r>
            <a:r>
              <a:rPr lang="en-US" sz="2800" spc="-2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objectives</a:t>
            </a:r>
            <a:r>
              <a:rPr lang="en-US" sz="2800" spc="-2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of</a:t>
            </a:r>
            <a:r>
              <a:rPr lang="en-US" sz="2800" spc="-30"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this</a:t>
            </a:r>
            <a:r>
              <a:rPr lang="en-US" sz="2800" spc="-2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study</a:t>
            </a:r>
            <a:r>
              <a:rPr lang="en-US" sz="2800" spc="-1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are</a:t>
            </a:r>
            <a:r>
              <a:rPr lang="en-US" sz="2800" spc="-2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mentioned</a:t>
            </a:r>
            <a:r>
              <a:rPr lang="en-US" sz="2800" spc="-20"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below:</a:t>
            </a:r>
            <a:endParaRPr lang="en-IN" sz="2800" dirty="0">
              <a:effectLst/>
              <a:latin typeface="Times New Roman" panose="02020603050405020304" pitchFamily="18" charset="0"/>
              <a:ea typeface="Times New Roman" panose="02020603050405020304" pitchFamily="18" charset="0"/>
            </a:endParaRPr>
          </a:p>
          <a:p>
            <a:pPr marL="1143000" marR="89535" lvl="2" indent="-228600">
              <a:lnSpc>
                <a:spcPct val="103000"/>
              </a:lnSpc>
              <a:spcBef>
                <a:spcPts val="50"/>
              </a:spcBef>
              <a:buSzPts val="1000"/>
              <a:buFont typeface="Times New Roman" panose="02020603050405020304" pitchFamily="18" charset="0"/>
              <a:buAutoNum type="arabicPeriod"/>
              <a:tabLst>
                <a:tab pos="464820" algn="l"/>
              </a:tabLst>
            </a:pPr>
            <a:r>
              <a:rPr lang="en-US" sz="2800" spc="0" dirty="0">
                <a:effectLst/>
                <a:latin typeface="Times New Roman" panose="02020603050405020304" pitchFamily="18" charset="0"/>
                <a:ea typeface="Times New Roman" panose="02020603050405020304" pitchFamily="18" charset="0"/>
              </a:rPr>
              <a:t>To</a:t>
            </a:r>
            <a:r>
              <a:rPr lang="en-US" sz="2800" spc="-30"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design</a:t>
            </a:r>
            <a:r>
              <a:rPr lang="en-US" sz="2800" spc="-30"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and</a:t>
            </a:r>
            <a:r>
              <a:rPr lang="en-US" sz="2800" spc="-35"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implement</a:t>
            </a:r>
            <a:r>
              <a:rPr lang="en-US" sz="2800" spc="-30"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a</a:t>
            </a:r>
            <a:r>
              <a:rPr lang="en-US" sz="2800" spc="-35"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novel</a:t>
            </a:r>
            <a:r>
              <a:rPr lang="en-US" sz="2800" spc="-35"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deep</a:t>
            </a:r>
            <a:r>
              <a:rPr lang="en-US" sz="2800" spc="-35"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neural</a:t>
            </a:r>
            <a:r>
              <a:rPr lang="en-US" sz="2800" spc="-40"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network</a:t>
            </a:r>
            <a:r>
              <a:rPr lang="en-US" sz="2800" spc="-25"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architecture</a:t>
            </a:r>
            <a:r>
              <a:rPr lang="en-US" sz="2800" spc="-30"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for</a:t>
            </a:r>
            <a:r>
              <a:rPr lang="en-US" sz="2800" spc="-35"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the</a:t>
            </a:r>
            <a:r>
              <a:rPr lang="en-US" sz="2800" spc="-35"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detection</a:t>
            </a:r>
            <a:r>
              <a:rPr lang="en-US" sz="2800" spc="-25"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of</a:t>
            </a:r>
            <a:r>
              <a:rPr lang="en-US" sz="2800" spc="-35"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breast</a:t>
            </a:r>
            <a:r>
              <a:rPr lang="en-US" sz="2800" spc="-40"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cancer</a:t>
            </a:r>
            <a:r>
              <a:rPr lang="en-US" sz="2800" spc="-35"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using</a:t>
            </a:r>
            <a:r>
              <a:rPr lang="en-US" sz="2800" spc="-35"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the WDBC cancer dataset.</a:t>
            </a:r>
            <a:endParaRPr lang="en-IN" sz="2800" spc="0" dirty="0">
              <a:effectLst/>
              <a:latin typeface="Times New Roman" panose="02020603050405020304" pitchFamily="18" charset="0"/>
              <a:ea typeface="Times New Roman" panose="02020603050405020304" pitchFamily="18" charset="0"/>
            </a:endParaRPr>
          </a:p>
          <a:p>
            <a:pPr marL="1143000" lvl="2" indent="-228600">
              <a:spcBef>
                <a:spcPts val="10"/>
              </a:spcBef>
              <a:buSzPts val="1000"/>
              <a:buFont typeface="Times New Roman" panose="02020603050405020304" pitchFamily="18" charset="0"/>
              <a:buAutoNum type="arabicPeriod"/>
              <a:tabLst>
                <a:tab pos="464820" algn="l"/>
              </a:tabLst>
            </a:pPr>
            <a:r>
              <a:rPr lang="en-US" sz="2800" spc="0" dirty="0">
                <a:effectLst/>
                <a:latin typeface="Times New Roman" panose="02020603050405020304" pitchFamily="18" charset="0"/>
                <a:ea typeface="Times New Roman" panose="02020603050405020304" pitchFamily="18" charset="0"/>
              </a:rPr>
              <a:t>To</a:t>
            </a:r>
            <a:r>
              <a:rPr lang="en-US" sz="2800" spc="-25"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minimize</a:t>
            </a:r>
            <a:r>
              <a:rPr lang="en-US" sz="2800" spc="-20"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the</a:t>
            </a:r>
            <a:r>
              <a:rPr lang="en-US" sz="2800" spc="-35"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model</a:t>
            </a:r>
            <a:r>
              <a:rPr lang="en-US" sz="2800" spc="-25"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loss</a:t>
            </a:r>
            <a:r>
              <a:rPr lang="en-US" sz="2800" spc="-30"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to,</a:t>
            </a:r>
            <a:r>
              <a:rPr lang="en-US" sz="2800" spc="-25"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enhance</a:t>
            </a:r>
            <a:r>
              <a:rPr lang="en-US" sz="2800" spc="-30"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the</a:t>
            </a:r>
            <a:r>
              <a:rPr lang="en-US" sz="2800" spc="-25" dirty="0">
                <a:effectLst/>
                <a:latin typeface="Times New Roman" panose="02020603050405020304" pitchFamily="18" charset="0"/>
                <a:ea typeface="Times New Roman" panose="02020603050405020304" pitchFamily="18" charset="0"/>
              </a:rPr>
              <a:t> </a:t>
            </a:r>
            <a:r>
              <a:rPr lang="en-US" sz="2800" spc="0" dirty="0">
                <a:effectLst/>
                <a:latin typeface="Times New Roman" panose="02020603050405020304" pitchFamily="18" charset="0"/>
                <a:ea typeface="Times New Roman" panose="02020603050405020304" pitchFamily="18" charset="0"/>
              </a:rPr>
              <a:t>classification</a:t>
            </a:r>
            <a:r>
              <a:rPr lang="en-US" sz="2800" spc="-20" dirty="0">
                <a:effectLst/>
                <a:latin typeface="Times New Roman" panose="02020603050405020304" pitchFamily="18" charset="0"/>
                <a:ea typeface="Times New Roman" panose="02020603050405020304" pitchFamily="18" charset="0"/>
              </a:rPr>
              <a:t> </a:t>
            </a:r>
            <a:r>
              <a:rPr lang="en-US" sz="2800" spc="-10" dirty="0">
                <a:effectLst/>
                <a:latin typeface="Times New Roman" panose="02020603050405020304" pitchFamily="18" charset="0"/>
                <a:ea typeface="Times New Roman" panose="02020603050405020304" pitchFamily="18" charset="0"/>
              </a:rPr>
              <a:t>accuracy</a:t>
            </a:r>
            <a:r>
              <a:rPr lang="en-US" sz="2800" spc="-10" dirty="0">
                <a:solidFill>
                  <a:srgbClr val="FF0000"/>
                </a:solidFill>
                <a:effectLst/>
                <a:latin typeface="Times New Roman" panose="02020603050405020304" pitchFamily="18" charset="0"/>
                <a:ea typeface="Times New Roman" panose="02020603050405020304" pitchFamily="18" charset="0"/>
              </a:rPr>
              <a:t>.</a:t>
            </a:r>
            <a:endParaRPr lang="en-IN" sz="2800" spc="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12784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0AC16-3138-CE2C-7788-3FADFFF5E1F4}"/>
              </a:ext>
            </a:extLst>
          </p:cNvPr>
          <p:cNvSpPr>
            <a:spLocks noGrp="1"/>
          </p:cNvSpPr>
          <p:nvPr>
            <p:ph type="title"/>
          </p:nvPr>
        </p:nvSpPr>
        <p:spPr>
          <a:xfrm>
            <a:off x="468086" y="365125"/>
            <a:ext cx="10515600" cy="1325563"/>
          </a:xfrm>
        </p:spPr>
        <p:txBody>
          <a:bodyPr>
            <a:normAutofit fontScale="90000"/>
          </a:bodyPr>
          <a:lstStyle/>
          <a:p>
            <a:r>
              <a:rPr lang="en-US" i="1" dirty="0"/>
              <a:t> </a:t>
            </a:r>
            <a:br>
              <a:rPr lang="en-IN" dirty="0"/>
            </a:br>
            <a:r>
              <a:rPr lang="en-US" sz="4900" b="1" i="1" dirty="0"/>
              <a:t>Dataset</a:t>
            </a:r>
            <a:br>
              <a:rPr lang="en-IN" dirty="0"/>
            </a:br>
            <a:endParaRPr lang="en-IN" b="1" dirty="0"/>
          </a:p>
        </p:txBody>
      </p:sp>
      <p:sp>
        <p:nvSpPr>
          <p:cNvPr id="3" name="Content Placeholder 2">
            <a:extLst>
              <a:ext uri="{FF2B5EF4-FFF2-40B4-BE49-F238E27FC236}">
                <a16:creationId xmlns:a16="http://schemas.microsoft.com/office/drawing/2014/main" id="{A75E7BB9-EF8E-2E87-12B6-70FC7E21310D}"/>
              </a:ext>
            </a:extLst>
          </p:cNvPr>
          <p:cNvSpPr>
            <a:spLocks noGrp="1"/>
          </p:cNvSpPr>
          <p:nvPr>
            <p:ph idx="1"/>
          </p:nvPr>
        </p:nvSpPr>
        <p:spPr>
          <a:xfrm>
            <a:off x="206829" y="1567543"/>
            <a:ext cx="11146971" cy="4609420"/>
          </a:xfrm>
        </p:spPr>
        <p:txBody>
          <a:bodyPr>
            <a:normAutofit lnSpcReduction="10000"/>
          </a:bodyPr>
          <a:lstStyle/>
          <a:p>
            <a:r>
              <a:rPr lang="en-US" sz="2400" dirty="0"/>
              <a:t>Breast Cancer Wisconsin (Diagnostic) Data Set (WDBC) was collected from the UCI Machine Learning Repository [21]. Features are calculated from a digitized image of a breast mass's fine needle aspirate (FNA). The WDBC data set consists of the features of the cell nuclei that exist in the sample image. This dataset was used to design a deep neural network that classifies breast cancers as benign or malignant contingent on the features of sample biopsies. The dataset defines 32 attributes of 569 biopsies. However, the actual target (Diagnosis) label values present for benign and malignant are B and M, correspondingly in a dataset. To train the proposed deep neural networks, modify all the targets of the class labels from B and M to 0 and 1.</a:t>
            </a:r>
            <a:endParaRPr lang="en-IN" sz="2400" dirty="0"/>
          </a:p>
          <a:p>
            <a:r>
              <a:rPr lang="en-US" sz="2400" dirty="0"/>
              <a:t>One of the key objectives of this work is to build a deep neural network model and train it to detect the label targets based on 31 input attributes. The dataset shown in Table 1 was considered for designing and training, the deep neural network that classifies breast cancers as benign or malignant contingent on the features of sample biopsies. The two target attributes used for labelling the target ‘diagnoses’ of biopsies are given in  </a:t>
            </a:r>
            <a:endParaRPr lang="en-IN" sz="2400" dirty="0"/>
          </a:p>
          <a:p>
            <a:endParaRPr lang="en-IN" dirty="0"/>
          </a:p>
        </p:txBody>
      </p:sp>
    </p:spTree>
    <p:extLst>
      <p:ext uri="{BB962C8B-B14F-4D97-AF65-F5344CB8AC3E}">
        <p14:creationId xmlns:p14="http://schemas.microsoft.com/office/powerpoint/2010/main" val="441652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EA5DF-1916-E031-5AD3-A4239CD1ED3F}"/>
              </a:ext>
            </a:extLst>
          </p:cNvPr>
          <p:cNvSpPr>
            <a:spLocks noGrp="1"/>
          </p:cNvSpPr>
          <p:nvPr>
            <p:ph type="title"/>
          </p:nvPr>
        </p:nvSpPr>
        <p:spPr>
          <a:xfrm>
            <a:off x="119743" y="681037"/>
            <a:ext cx="11234057" cy="1009651"/>
          </a:xfrm>
        </p:spPr>
        <p:txBody>
          <a:bodyPr>
            <a:normAutofit fontScale="90000"/>
          </a:bodyPr>
          <a:lstStyle/>
          <a:p>
            <a:r>
              <a:rPr lang="en-US" b="1" i="1" dirty="0"/>
              <a:t>Methods</a:t>
            </a:r>
            <a:br>
              <a:rPr lang="en-IN" dirty="0"/>
            </a:br>
            <a:endParaRPr lang="en-IN" dirty="0"/>
          </a:p>
        </p:txBody>
      </p:sp>
      <p:sp>
        <p:nvSpPr>
          <p:cNvPr id="3" name="Content Placeholder 2">
            <a:extLst>
              <a:ext uri="{FF2B5EF4-FFF2-40B4-BE49-F238E27FC236}">
                <a16:creationId xmlns:a16="http://schemas.microsoft.com/office/drawing/2014/main" id="{B594FED6-93A0-5461-173D-40C29ED313C1}"/>
              </a:ext>
            </a:extLst>
          </p:cNvPr>
          <p:cNvSpPr>
            <a:spLocks noGrp="1"/>
          </p:cNvSpPr>
          <p:nvPr>
            <p:ph idx="1"/>
          </p:nvPr>
        </p:nvSpPr>
        <p:spPr>
          <a:xfrm>
            <a:off x="0" y="1556657"/>
            <a:ext cx="11353800" cy="4620306"/>
          </a:xfrm>
        </p:spPr>
        <p:txBody>
          <a:bodyPr>
            <a:normAutofit/>
          </a:bodyPr>
          <a:lstStyle/>
          <a:p>
            <a:r>
              <a:rPr lang="en-US" dirty="0"/>
              <a:t>A proposed artificial deep neural network (A-DNN) is a sequential neural network model comprising 1 Input layer, 2 hidden layers, and 1 output layer. A-DNN processes 32 input attribute data from the input layer with 32 nodes and 1 output layer with 1 node. The two hidden layers consist of 32, and 16 hidden nodes respectively.</a:t>
            </a:r>
          </a:p>
          <a:p>
            <a:r>
              <a:rPr lang="en-US" dirty="0"/>
              <a:t> In this sequential A-DNN model, the bias value (𝑊</a:t>
            </a:r>
            <a:r>
              <a:rPr lang="en-US" baseline="-25000" dirty="0"/>
              <a:t>0</a:t>
            </a:r>
            <a:r>
              <a:rPr lang="en-US" dirty="0"/>
              <a:t>) is assigned as 1, which is typically assigned to be 1 in any deep neural network to evade nullified network results. Each hidden layer network learning rate of 0.01 is applied using kernel regularized l2 norms model with ‘</a:t>
            </a:r>
            <a:r>
              <a:rPr lang="en-US" dirty="0" err="1"/>
              <a:t>relu</a:t>
            </a:r>
            <a:r>
              <a:rPr lang="en-US" dirty="0"/>
              <a:t>’ rectified linear unit ‘Activation Function’ including dropout of 0.5. </a:t>
            </a:r>
          </a:p>
          <a:p>
            <a:endParaRPr lang="en-IN" dirty="0"/>
          </a:p>
        </p:txBody>
      </p:sp>
    </p:spTree>
    <p:extLst>
      <p:ext uri="{BB962C8B-B14F-4D97-AF65-F5344CB8AC3E}">
        <p14:creationId xmlns:p14="http://schemas.microsoft.com/office/powerpoint/2010/main" val="1532181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14C437-5F43-2E44-AB54-4CB06524FEB2}"/>
              </a:ext>
            </a:extLst>
          </p:cNvPr>
          <p:cNvSpPr txBox="1"/>
          <p:nvPr/>
        </p:nvSpPr>
        <p:spPr>
          <a:xfrm>
            <a:off x="315686" y="522515"/>
            <a:ext cx="11582400" cy="3120726"/>
          </a:xfrm>
          <a:prstGeom prst="rect">
            <a:avLst/>
          </a:prstGeom>
          <a:noFill/>
        </p:spPr>
        <p:txBody>
          <a:bodyPr wrap="square">
            <a:spAutoFit/>
          </a:bodyPr>
          <a:lstStyle/>
          <a:p>
            <a:pPr marL="53975" marR="104140" algn="just">
              <a:lnSpc>
                <a:spcPct val="103000"/>
              </a:lnSpc>
              <a:buNone/>
            </a:pPr>
            <a:r>
              <a:rPr lang="en-US" sz="3200" dirty="0">
                <a:effectLst/>
                <a:latin typeface="Times New Roman" panose="02020603050405020304" pitchFamily="18" charset="0"/>
                <a:ea typeface="Times New Roman" panose="02020603050405020304" pitchFamily="18" charset="0"/>
              </a:rPr>
              <a:t>The proposed A-DNN model was developed for the detection of the target label (B-0(Benign), M-1(Malignant)) ‘diagnoses’</a:t>
            </a:r>
            <a:r>
              <a:rPr lang="en-US" sz="3200" spc="-3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column</a:t>
            </a:r>
            <a:r>
              <a:rPr lang="en-US" sz="3200" spc="-4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of</a:t>
            </a:r>
            <a:r>
              <a:rPr lang="en-US" sz="3200" spc="-3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the</a:t>
            </a:r>
            <a:r>
              <a:rPr lang="en-US" sz="3200" spc="-5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attribute</a:t>
            </a:r>
            <a:r>
              <a:rPr lang="en-US" sz="3200" spc="-4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from</a:t>
            </a:r>
            <a:r>
              <a:rPr lang="en-US" sz="3200" spc="-4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the</a:t>
            </a:r>
            <a:r>
              <a:rPr lang="en-US" sz="3200" spc="-1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WDBC</a:t>
            </a:r>
            <a:r>
              <a:rPr lang="en-US" sz="3200" spc="-4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dataset.</a:t>
            </a:r>
            <a:r>
              <a:rPr lang="en-US" sz="3200" spc="-3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The</a:t>
            </a:r>
            <a:r>
              <a:rPr lang="en-US" sz="3200" spc="-3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following</a:t>
            </a:r>
            <a:r>
              <a:rPr lang="en-US" sz="3200" spc="-4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equations</a:t>
            </a:r>
            <a:r>
              <a:rPr lang="en-US" sz="3200" spc="-4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show</a:t>
            </a:r>
            <a:r>
              <a:rPr lang="en-US" sz="3200" spc="-50"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forward</a:t>
            </a:r>
            <a:r>
              <a:rPr lang="en-US" sz="3200" spc="-4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propagation</a:t>
            </a:r>
            <a:r>
              <a:rPr lang="en-US" sz="3200" spc="-45" dirty="0">
                <a:effectLst/>
                <a:latin typeface="Times New Roman" panose="02020603050405020304" pitchFamily="18" charset="0"/>
                <a:ea typeface="Times New Roman" panose="02020603050405020304" pitchFamily="18" charset="0"/>
              </a:rPr>
              <a:t> </a:t>
            </a:r>
            <a:r>
              <a:rPr lang="en-US" sz="3200" dirty="0">
                <a:effectLst/>
                <a:latin typeface="Times New Roman" panose="02020603050405020304" pitchFamily="18" charset="0"/>
                <a:ea typeface="Times New Roman" panose="02020603050405020304" pitchFamily="18" charset="0"/>
              </a:rPr>
              <a:t>from the Input layer to the Hidden layers and from the Hidden layers to an output layer.</a:t>
            </a:r>
            <a:endParaRPr lang="en-IN" sz="3200" dirty="0">
              <a:effectLst/>
              <a:latin typeface="Times New Roman" panose="02020603050405020304" pitchFamily="18" charset="0"/>
              <a:ea typeface="Times New Roman" panose="02020603050405020304" pitchFamily="18" charset="0"/>
            </a:endParaRPr>
          </a:p>
          <a:p>
            <a:pPr>
              <a:spcBef>
                <a:spcPts val="45"/>
              </a:spcBef>
              <a:buNone/>
            </a:pPr>
            <a:r>
              <a:rPr lang="en-US" sz="3200" dirty="0">
                <a:effectLst/>
                <a:latin typeface="Times New Roman" panose="02020603050405020304" pitchFamily="18" charset="0"/>
                <a:ea typeface="Times New Roman" panose="02020603050405020304" pitchFamily="18" charset="0"/>
              </a:rPr>
              <a:t> </a:t>
            </a:r>
            <a:endParaRPr lang="en-IN"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1323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7D8BF-5E0D-FE78-BE03-2C0BBFEF1742}"/>
              </a:ext>
            </a:extLst>
          </p:cNvPr>
          <p:cNvSpPr>
            <a:spLocks noGrp="1"/>
          </p:cNvSpPr>
          <p:nvPr>
            <p:ph type="title"/>
          </p:nvPr>
        </p:nvSpPr>
        <p:spPr>
          <a:xfrm>
            <a:off x="283029" y="582839"/>
            <a:ext cx="10515600" cy="1325563"/>
          </a:xfrm>
        </p:spPr>
        <p:txBody>
          <a:bodyPr/>
          <a:lstStyle/>
          <a:p>
            <a:r>
              <a:rPr lang="en-US" b="1" dirty="0"/>
              <a:t>Results and Discussion</a:t>
            </a:r>
            <a:br>
              <a:rPr lang="en-IN" b="1" dirty="0"/>
            </a:br>
            <a:endParaRPr lang="en-IN" dirty="0"/>
          </a:p>
        </p:txBody>
      </p:sp>
      <p:sp>
        <p:nvSpPr>
          <p:cNvPr id="3" name="Content Placeholder 2">
            <a:extLst>
              <a:ext uri="{FF2B5EF4-FFF2-40B4-BE49-F238E27FC236}">
                <a16:creationId xmlns:a16="http://schemas.microsoft.com/office/drawing/2014/main" id="{5EAD2CF3-820A-BD98-BF48-5D7B73AA419E}"/>
              </a:ext>
            </a:extLst>
          </p:cNvPr>
          <p:cNvSpPr>
            <a:spLocks noGrp="1"/>
          </p:cNvSpPr>
          <p:nvPr>
            <p:ph idx="1"/>
          </p:nvPr>
        </p:nvSpPr>
        <p:spPr>
          <a:xfrm>
            <a:off x="119743" y="1567542"/>
            <a:ext cx="11234057" cy="5290457"/>
          </a:xfrm>
        </p:spPr>
        <p:txBody>
          <a:bodyPr>
            <a:normAutofit/>
          </a:bodyPr>
          <a:lstStyle/>
          <a:p>
            <a:r>
              <a:rPr lang="en-US" dirty="0"/>
              <a:t>The training and validation loss plot is also known as the model loss plot. Figure 3(a-c) displays the training and validation loss plots to investigate the performance of the A-DNN model for 10%,20%, and 30% of the partitioning of the testing data splits.</a:t>
            </a:r>
          </a:p>
          <a:p>
            <a:r>
              <a:rPr lang="en-US" dirty="0"/>
              <a:t> From these plots, for the 70-30% testing data split the proposed A-DNN model has a small gap between the validation loss and training loss.</a:t>
            </a:r>
            <a:endParaRPr lang="en-IN" dirty="0"/>
          </a:p>
          <a:p>
            <a:r>
              <a:rPr lang="en-US" dirty="0"/>
              <a:t>For this data split, this model performs the best with the highest accuracy of 99%. This means that very little overfitting occurred during the train-test evaluation of the model. The performance investigation of the model loss using the proposed A-DNN model.</a:t>
            </a:r>
            <a:endParaRPr lang="en-IN" dirty="0"/>
          </a:p>
          <a:p>
            <a:endParaRPr lang="en-IN" dirty="0"/>
          </a:p>
        </p:txBody>
      </p:sp>
    </p:spTree>
    <p:extLst>
      <p:ext uri="{BB962C8B-B14F-4D97-AF65-F5344CB8AC3E}">
        <p14:creationId xmlns:p14="http://schemas.microsoft.com/office/powerpoint/2010/main" val="983576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592A68-6EF3-0E64-A9EF-50E97A4DFED5}"/>
              </a:ext>
            </a:extLst>
          </p:cNvPr>
          <p:cNvSpPr txBox="1"/>
          <p:nvPr/>
        </p:nvSpPr>
        <p:spPr>
          <a:xfrm>
            <a:off x="174171" y="424544"/>
            <a:ext cx="11865429" cy="5686428"/>
          </a:xfrm>
          <a:prstGeom prst="rect">
            <a:avLst/>
          </a:prstGeom>
          <a:noFill/>
        </p:spPr>
        <p:txBody>
          <a:bodyPr wrap="square">
            <a:spAutoFit/>
          </a:bodyPr>
          <a:lstStyle/>
          <a:p>
            <a:pPr marL="340360" marR="103505" indent="-285750" algn="just">
              <a:lnSpc>
                <a:spcPct val="103000"/>
              </a:lnSpc>
              <a:spcBef>
                <a:spcPts val="5"/>
              </a:spcBef>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rPr>
              <a:t>AUC</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computes</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3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area</a:t>
            </a:r>
            <a:r>
              <a:rPr lang="en-US" sz="2400" spc="-3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under</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2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ROC</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curve</a:t>
            </a:r>
            <a:r>
              <a:rPr lang="en-US" sz="2400" spc="-3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(ROC</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AUC)</a:t>
            </a:r>
            <a:r>
              <a:rPr lang="en-US" sz="2400" spc="-2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from</a:t>
            </a:r>
            <a:r>
              <a:rPr lang="en-US" sz="2400" spc="-3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prediction</a:t>
            </a:r>
            <a:r>
              <a:rPr lang="en-US" sz="2400" spc="-3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scores. Figure</a:t>
            </a:r>
            <a:r>
              <a:rPr lang="en-US" sz="2400" spc="-2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6(a-c)</a:t>
            </a:r>
            <a:r>
              <a:rPr lang="en-US" sz="2400" spc="-2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displays</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AUC (Area</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Under</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Curve)</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plots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analyze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performance</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proposed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A-DNN</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method</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using</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TPR-True</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Positive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Rate and</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FPR-False</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Positive</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Rate</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for</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10%,20%,</a:t>
            </a:r>
            <a:r>
              <a:rPr lang="en-US" sz="2400" spc="-3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a:t>
            </a:r>
            <a:r>
              <a:rPr lang="en-US" sz="2400" spc="-4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30%</a:t>
            </a:r>
            <a:r>
              <a:rPr lang="en-US" sz="2400" spc="-3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4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partitioning</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4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testing</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data</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splits.</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This</a:t>
            </a:r>
            <a:r>
              <a:rPr lang="en-US" sz="2400" spc="-4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model</a:t>
            </a:r>
            <a:r>
              <a:rPr lang="en-US" sz="2400" spc="-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performs best for the 70-30% testing data split with AUC=0.986 which means 98.6% which is approximately 99%.</a:t>
            </a:r>
          </a:p>
          <a:p>
            <a:pPr marL="54610" marR="103505" algn="just">
              <a:lnSpc>
                <a:spcPct val="103000"/>
              </a:lnSpc>
              <a:spcBef>
                <a:spcPts val="5"/>
              </a:spcBef>
            </a:pPr>
            <a:r>
              <a:rPr lang="en-US" sz="2400" dirty="0">
                <a:latin typeface="Times New Roman" panose="02020603050405020304" pitchFamily="18" charset="0"/>
                <a:ea typeface="Times New Roman" panose="02020603050405020304" pitchFamily="18" charset="0"/>
              </a:rPr>
              <a:t> </a:t>
            </a:r>
          </a:p>
          <a:p>
            <a:pPr marL="54610" marR="103505" algn="just">
              <a:lnSpc>
                <a:spcPct val="103000"/>
              </a:lnSpc>
              <a:spcBef>
                <a:spcPts val="5"/>
              </a:spcBef>
            </a:pPr>
            <a:endParaRPr lang="en-US" sz="2400" dirty="0">
              <a:effectLst/>
              <a:latin typeface="Times New Roman" panose="02020603050405020304" pitchFamily="18" charset="0"/>
              <a:ea typeface="Times New Roman" panose="02020603050405020304" pitchFamily="18" charset="0"/>
            </a:endParaRPr>
          </a:p>
          <a:p>
            <a:pPr marL="340360" marR="103505" indent="-285750" algn="just">
              <a:lnSpc>
                <a:spcPct val="103000"/>
              </a:lnSpc>
              <a:spcBef>
                <a:spcPts val="5"/>
              </a:spcBef>
              <a:buFont typeface="Arial" panose="020B0604020202020204" pitchFamily="34" charset="0"/>
              <a:buChar char="•"/>
            </a:pPr>
            <a:r>
              <a:rPr lang="en-US" sz="2400" dirty="0"/>
              <a:t>ROC computes the receiver operating characteristic plot for given true and predicted values. Figure 7(a-c) displays the combined ROC plots with Precision and Recall plots to study the performance of the A-DNN method using the TPR-True Positive Rate and FPR-False Positive Rate for 10%,20%, and 30% of the partitioning of the testing data splits. From these plots, for the 70-30% testing data split model performance was the best with precision -0.99 and recall- 0.99 respectively.</a:t>
            </a:r>
            <a:endParaRPr lang="en-US" sz="2400" dirty="0">
              <a:effectLst/>
              <a:latin typeface="Times New Roman" panose="02020603050405020304" pitchFamily="18" charset="0"/>
              <a:ea typeface="Times New Roman" panose="02020603050405020304" pitchFamily="18" charset="0"/>
            </a:endParaRPr>
          </a:p>
          <a:p>
            <a:pPr marL="340360" marR="103505" indent="-285750" algn="just">
              <a:lnSpc>
                <a:spcPct val="103000"/>
              </a:lnSpc>
              <a:spcBef>
                <a:spcPts val="5"/>
              </a:spcBef>
              <a:buFont typeface="Arial" panose="020B0604020202020204" pitchFamily="34" charset="0"/>
              <a:buChar char="•"/>
            </a:pP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01104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F8C57-C491-0795-F8B2-69884E54185C}"/>
              </a:ext>
            </a:extLst>
          </p:cNvPr>
          <p:cNvSpPr>
            <a:spLocks noGrp="1"/>
          </p:cNvSpPr>
          <p:nvPr>
            <p:ph type="title"/>
          </p:nvPr>
        </p:nvSpPr>
        <p:spPr>
          <a:xfrm>
            <a:off x="206829" y="1088571"/>
            <a:ext cx="11146971" cy="602117"/>
          </a:xfrm>
        </p:spPr>
        <p:txBody>
          <a:bodyPr>
            <a:normAutofit fontScale="90000"/>
          </a:bodyPr>
          <a:lstStyle/>
          <a:p>
            <a:pPr lvl="0"/>
            <a:r>
              <a:rPr lang="en-US" b="1" i="1" dirty="0"/>
              <a:t>Conclusion</a:t>
            </a:r>
            <a:br>
              <a:rPr lang="en-IN" b="1" dirty="0"/>
            </a:br>
            <a:r>
              <a:rPr lang="en-US" b="1" dirty="0"/>
              <a:t> </a:t>
            </a:r>
            <a:br>
              <a:rPr lang="en-IN" dirty="0"/>
            </a:br>
            <a:br>
              <a:rPr lang="en-IN" dirty="0"/>
            </a:br>
            <a:r>
              <a:rPr lang="en-US" dirty="0"/>
              <a:t> </a:t>
            </a:r>
            <a:br>
              <a:rPr lang="en-IN" dirty="0"/>
            </a:br>
            <a:endParaRPr lang="en-IN" dirty="0"/>
          </a:p>
        </p:txBody>
      </p:sp>
      <p:sp>
        <p:nvSpPr>
          <p:cNvPr id="3" name="Content Placeholder 2">
            <a:extLst>
              <a:ext uri="{FF2B5EF4-FFF2-40B4-BE49-F238E27FC236}">
                <a16:creationId xmlns:a16="http://schemas.microsoft.com/office/drawing/2014/main" id="{9D5DFDDB-5FCC-3304-5CBF-D4CA52D34E1F}"/>
              </a:ext>
            </a:extLst>
          </p:cNvPr>
          <p:cNvSpPr>
            <a:spLocks noGrp="1"/>
          </p:cNvSpPr>
          <p:nvPr>
            <p:ph idx="1"/>
          </p:nvPr>
        </p:nvSpPr>
        <p:spPr>
          <a:xfrm>
            <a:off x="87086" y="794657"/>
            <a:ext cx="11266714" cy="5382306"/>
          </a:xfrm>
        </p:spPr>
        <p:txBody>
          <a:bodyPr>
            <a:normAutofit lnSpcReduction="10000"/>
          </a:bodyPr>
          <a:lstStyle/>
          <a:p>
            <a:r>
              <a:rPr lang="en-US" dirty="0"/>
              <a:t>This paper presents an A-DNN model for breast cancer diagnosis in malignant or benign categories using the WDBC data sets. For the model evaluation, partitioned the WDBC dataset into 90% - 10%, 80% –20%, and 70%–30% training-testing split for performance analysis. After that, a set of data (training and testing) is primarily applied to the A-DNN model for classification. Since this A-DNN network has hidden layers with many inner nodes, aims to minimize the model loss</a:t>
            </a:r>
          </a:p>
          <a:p>
            <a:r>
              <a:rPr lang="en-US" dirty="0"/>
              <a:t>The performance of the A-DNN technique is measured based on the binary cross entropy loss with the ‘Adam’ optimizer. It was observed that the 70-30% train-test data split proposed A-DNN evaluation model gives a better classification accuracy of 99%, which is more compared with the 90-10%, and 80-20% train-test data split. The performance of the proposed technique has been measured using the five parameters of confusion metrics: accuracy, precision, recall, and F1-score. </a:t>
            </a:r>
            <a:endParaRPr lang="en-IN" dirty="0"/>
          </a:p>
        </p:txBody>
      </p:sp>
      <p:sp>
        <p:nvSpPr>
          <p:cNvPr id="5" name="TextBox 4">
            <a:extLst>
              <a:ext uri="{FF2B5EF4-FFF2-40B4-BE49-F238E27FC236}">
                <a16:creationId xmlns:a16="http://schemas.microsoft.com/office/drawing/2014/main" id="{99B168A5-60FD-2DEA-4606-0B708623AC8A}"/>
              </a:ext>
            </a:extLst>
          </p:cNvPr>
          <p:cNvSpPr txBox="1"/>
          <p:nvPr/>
        </p:nvSpPr>
        <p:spPr>
          <a:xfrm>
            <a:off x="3039836" y="3244334"/>
            <a:ext cx="6101442" cy="369332"/>
          </a:xfrm>
          <a:prstGeom prst="rect">
            <a:avLst/>
          </a:prstGeom>
          <a:noFill/>
        </p:spPr>
        <p:txBody>
          <a:bodyPr wrap="square">
            <a:spAutoFit/>
          </a:bodyPr>
          <a:lstStyle/>
          <a:p>
            <a:r>
              <a:rPr lang="en-US" dirty="0"/>
              <a:t>C</a:t>
            </a:r>
            <a:endParaRPr lang="en-IN" dirty="0"/>
          </a:p>
        </p:txBody>
      </p:sp>
    </p:spTree>
    <p:extLst>
      <p:ext uri="{BB962C8B-B14F-4D97-AF65-F5344CB8AC3E}">
        <p14:creationId xmlns:p14="http://schemas.microsoft.com/office/powerpoint/2010/main" val="3672047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780910-C700-6A2E-4111-B4367B1D3DDC}"/>
              </a:ext>
            </a:extLst>
          </p:cNvPr>
          <p:cNvSpPr txBox="1"/>
          <p:nvPr/>
        </p:nvSpPr>
        <p:spPr>
          <a:xfrm>
            <a:off x="370113" y="413657"/>
            <a:ext cx="11473543" cy="4261231"/>
          </a:xfrm>
          <a:prstGeom prst="rect">
            <a:avLst/>
          </a:prstGeom>
          <a:noFill/>
        </p:spPr>
        <p:txBody>
          <a:bodyPr wrap="square">
            <a:spAutoFit/>
          </a:bodyPr>
          <a:lstStyle/>
          <a:p>
            <a:pPr marL="340360" marR="107315" indent="-285750" algn="just">
              <a:lnSpc>
                <a:spcPct val="103000"/>
              </a:lnSpc>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rPr>
              <a:t>classification accuracy of 99% on the WDBC breast cancer dataset. The evaluation results exhibited the efficacy of the proposed A-DNN model in detecting breast cancer. In future work, the proposed work can be extended to an analysis of histopathological images for accurate cancer diagnosis and to assist medical experts in better diagnosing the disease.</a:t>
            </a:r>
          </a:p>
          <a:p>
            <a:pPr marL="340360" marR="107315" indent="-285750" algn="just">
              <a:lnSpc>
                <a:spcPct val="103000"/>
              </a:lnSpc>
              <a:buFont typeface="Arial" panose="020B0604020202020204" pitchFamily="34" charset="0"/>
              <a:buChar char="•"/>
            </a:pPr>
            <a:endParaRPr lang="en-US" sz="2400" dirty="0">
              <a:latin typeface="Times New Roman" panose="02020603050405020304" pitchFamily="18" charset="0"/>
              <a:ea typeface="Times New Roman" panose="02020603050405020304" pitchFamily="18" charset="0"/>
            </a:endParaRPr>
          </a:p>
          <a:p>
            <a:pPr marL="340360" marR="107315" indent="-285750" algn="just">
              <a:lnSpc>
                <a:spcPct val="103000"/>
              </a:lnSpc>
              <a:buFont typeface="Arial" panose="020B0604020202020204" pitchFamily="34" charset="0"/>
              <a:buChar char="•"/>
            </a:pPr>
            <a:r>
              <a:rPr lang="en-US" sz="2400" dirty="0"/>
              <a:t>. Additionally, model classification accuracy, precision, recall, and F1 score for different combinations of data splits are compared. The proposed model comprises four stages: (1) the WDBC cancer data pre-processing stage, (2) the implementation of the sequential A-DNN model stage, (3) the A-DNN model learning (training-testing) stage, and (4) the model performance evaluation stage (Confusion Metrics and Model Loss). </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8806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B178B-DB6B-CF0D-284B-A152749CA3D5}"/>
              </a:ext>
            </a:extLst>
          </p:cNvPr>
          <p:cNvSpPr>
            <a:spLocks noGrp="1"/>
          </p:cNvSpPr>
          <p:nvPr>
            <p:ph type="title"/>
          </p:nvPr>
        </p:nvSpPr>
        <p:spPr>
          <a:xfrm>
            <a:off x="838200" y="365125"/>
            <a:ext cx="10515600" cy="6100989"/>
          </a:xfrm>
        </p:spPr>
        <p:txBody>
          <a:bodyPr/>
          <a:lstStyle/>
          <a:p>
            <a:pPr algn="ctr"/>
            <a:r>
              <a:rPr lang="en-IN" dirty="0"/>
              <a:t>THANK YOU!!!</a:t>
            </a:r>
          </a:p>
        </p:txBody>
      </p:sp>
    </p:spTree>
    <p:extLst>
      <p:ext uri="{BB962C8B-B14F-4D97-AF65-F5344CB8AC3E}">
        <p14:creationId xmlns:p14="http://schemas.microsoft.com/office/powerpoint/2010/main" val="1614971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1229</Words>
  <Application>Microsoft Office PowerPoint</Application>
  <PresentationFormat>Widescreen</PresentationFormat>
  <Paragraphs>32</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Breast Cancer Classification Using Deep Neural Networks Technique </vt:lpstr>
      <vt:lpstr>Abstract </vt:lpstr>
      <vt:lpstr>PowerPoint Presentation</vt:lpstr>
      <vt:lpstr>  Dataset </vt:lpstr>
      <vt:lpstr>Methods </vt:lpstr>
      <vt:lpstr>PowerPoint Presentation</vt:lpstr>
      <vt:lpstr>Results and Discussion </vt:lpstr>
      <vt:lpstr>PowerPoint Presentation</vt:lpstr>
      <vt:lpstr>Conclusion      </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ankita morghade</dc:creator>
  <cp:lastModifiedBy>ankita morghade</cp:lastModifiedBy>
  <cp:revision>1</cp:revision>
  <dcterms:created xsi:type="dcterms:W3CDTF">2026-10-28T21:56:31Z</dcterms:created>
  <dcterms:modified xsi:type="dcterms:W3CDTF">2026-10-28T22:13:10Z</dcterms:modified>
</cp:coreProperties>
</file>